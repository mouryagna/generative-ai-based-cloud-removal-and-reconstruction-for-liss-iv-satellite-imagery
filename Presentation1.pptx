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8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33"/>
    <a:srgbClr val="12304A"/>
    <a:srgbClr val="000435"/>
    <a:srgbClr val="E8F5F2"/>
    <a:srgbClr val="EAF3FB"/>
    <a:srgbClr val="00897B"/>
    <a:srgbClr val="DFF2EE"/>
    <a:srgbClr val="404040"/>
    <a:srgbClr val="197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0D664D-AE16-419C-833B-9C72519B3CEF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EDB1D-79EB-44BD-A4CA-78CA539D06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4282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EDB1D-79EB-44BD-A4CA-78CA539D0670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86313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B283-A0D1-DBFF-F0E3-1BD2096AC7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264851-479A-6EFE-1900-7529573251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D28C9-303C-D77D-83C3-A99F593AE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F8F9EE-82C4-2093-3FBC-BC7EDC001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3F5EB7-829B-CB49-EA84-C5DFBE91A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4340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1123-5DCD-434B-9CAA-7B4493B26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32F0F-8DAE-65A6-11BD-F2522952D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C4663A-92DA-908B-7B41-CF59E92522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756442-80EA-A30A-3223-4E035FE5F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449DB-318A-59BE-902F-1D615F4F9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24604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BF48F-B86B-65FD-55CC-4C329F30C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497E7-E31D-4A6D-DA1C-F010FC54ED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3F7A34-CF35-8886-10BD-229DE9A5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48634-60D0-B72C-3496-32D7A0860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9FC97-F95D-2300-E039-65CC7685A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203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0F583-E85D-CA5D-2411-B64426A15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BAE15-B274-E774-56F3-08E4E73FE6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C7CFAE-D04D-89C7-A53A-9A83E639F0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A481E9-8F8D-B02A-1E9D-1D76A7EDF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B6372-C658-A478-BA8B-C32D53ED4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6CCE5-99AD-4A47-1CB9-69884ABD4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4829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D6075-C6C0-79C6-0470-0A993B881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17D2E9-222D-4416-43B0-B36602E4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324896-1AE6-108A-89CB-EB76176E4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719E1C-A2EF-BDBC-8E78-F75EB9388C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8D5DFC-F6F4-0E3A-A1FC-05FA69530D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59D477-1A79-3B09-632B-B67B6F8278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4C1DCB-37AC-8918-B19A-AEBBAC602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16392B-67AD-20AE-4F54-7BB9FAD7A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9575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1E12C-7EE6-BD49-CE3A-A53F07C44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AA413-DB86-0AEF-E214-D36D71116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16BE39-1C69-9105-EA83-21F8AFBDB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82528-3B6A-24FB-03DB-DC0F50310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621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D2E70B-11A0-08A3-6192-A283A4F5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9C295D-196D-8C3F-8785-DB6D03EA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9C1DE-FB9C-AA18-6D26-334ABD7F9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868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14E61-0D25-DE05-794D-4EE3A9117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F7F38-7CFE-8A9D-FAE2-ED663D4302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02DE94-1493-38BA-A8BF-5F4C3B23F2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97D17F-4605-DBFA-867B-5BFAF6131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22C4D1-02A7-B16C-0E23-DCD7B7F5B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CA2E08-7D4C-3652-59DE-89D7A4AD0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092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9962E-B2E4-BC86-0E79-618E84209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1EB13B-15B3-50C9-05CB-9832C8CCEB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54C9A5-72FD-137F-EC35-D4B4B93D5C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09FAD-2303-2B00-E141-690EDBB31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0091E5-A2D6-6222-41FD-C605DC472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675C0D-1BB3-EFF8-B362-C43AB50D6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9361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AC634-BDE7-6516-D556-0C95FC924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CB78F4-AC05-6EFC-49B3-0ADECE8F28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C3D777-50E8-57E4-2126-CEF4B9BA7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47BB5-5A9F-6B22-D92D-FF185C6AD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DA1145-D61B-920C-3821-7B7E6FDA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842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C4C0A6-E56D-9FC2-E779-1CD2C2066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E94F00-320F-AF0C-26A2-D5CBEA0C49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5604-9DEA-00B2-4E1C-D3C4C79CA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1CDF8-75AC-7CC6-6006-A34A75C8F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5FA7C8-BE94-BC90-2293-72B972999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65025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289727-65BA-3EAD-CD7E-C9AED0C30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34D82-78B2-3759-7502-B8398B98C9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0FD66C-0C33-12D3-52D9-40A25E13C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E9735F-C216-446E-A09D-3BEA34043A55}" type="datetimeFigureOut">
              <a:rPr lang="en-IN" smtClean="0"/>
              <a:t>16-09-2026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A2665-571C-AA90-7687-F42BE9FEF2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19699-C66A-C0B2-5BFD-67E37288E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973383-EDD1-4C0B-862B-AF47F05AF5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655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64A4EC4-C055-4E17-375C-ED21CB9BD240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8AA495-E66F-5FC4-E3D2-1B962EDD5B83}"/>
              </a:ext>
            </a:extLst>
          </p:cNvPr>
          <p:cNvSpPr txBox="1"/>
          <p:nvPr/>
        </p:nvSpPr>
        <p:spPr>
          <a:xfrm>
            <a:off x="160420" y="657085"/>
            <a:ext cx="73468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000435"/>
                </a:solidFill>
              </a:rPr>
              <a:t>Cloud Removal from LISS-IV Satellite Imagery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1B1F23-D999-25C6-2E42-477951A82C97}"/>
              </a:ext>
            </a:extLst>
          </p:cNvPr>
          <p:cNvSpPr txBox="1"/>
          <p:nvPr/>
        </p:nvSpPr>
        <p:spPr>
          <a:xfrm>
            <a:off x="160420" y="2048256"/>
            <a:ext cx="68031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dirty="0">
                <a:solidFill>
                  <a:srgbClr val="404040"/>
                </a:solidFill>
              </a:rPr>
              <a:t>Using Deep Learning for Image-to-Image Reconstruction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3BAC9E-AC47-23A1-E2EC-4708A12BB971}"/>
              </a:ext>
            </a:extLst>
          </p:cNvPr>
          <p:cNvSpPr txBox="1"/>
          <p:nvPr/>
        </p:nvSpPr>
        <p:spPr>
          <a:xfrm>
            <a:off x="246888" y="3108960"/>
            <a:ext cx="81015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Team Members</a:t>
            </a:r>
          </a:p>
          <a:p>
            <a:endParaRPr lang="en-IN" dirty="0"/>
          </a:p>
          <a:p>
            <a:r>
              <a:rPr lang="en-IN" dirty="0"/>
              <a:t>Shashank Reddy ,  Mouryagna Baindla, Rishikesh Reddy</a:t>
            </a:r>
          </a:p>
          <a:p>
            <a:r>
              <a:rPr lang="en-IN" dirty="0"/>
              <a:t>BT24CSA014, BT24CSA015, BT24CSA058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6E6FAC-A9C0-2266-18C0-BF1C0650D721}"/>
              </a:ext>
            </a:extLst>
          </p:cNvPr>
          <p:cNvSpPr txBox="1"/>
          <p:nvPr/>
        </p:nvSpPr>
        <p:spPr>
          <a:xfrm>
            <a:off x="246888" y="4448097"/>
            <a:ext cx="5646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Supervisor: </a:t>
            </a:r>
            <a:r>
              <a:rPr lang="en-IN" dirty="0"/>
              <a:t>Dr. Santosh Kumar Sahu</a:t>
            </a:r>
          </a:p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79B341-B50D-F40B-5204-E25FED2C9F8D}"/>
              </a:ext>
            </a:extLst>
          </p:cNvPr>
          <p:cNvSpPr txBox="1"/>
          <p:nvPr/>
        </p:nvSpPr>
        <p:spPr>
          <a:xfrm>
            <a:off x="246888" y="5011403"/>
            <a:ext cx="47548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Department: CSA,</a:t>
            </a:r>
            <a:br>
              <a:rPr lang="en-IN" dirty="0"/>
            </a:br>
            <a:r>
              <a:rPr lang="en-IN" dirty="0"/>
              <a:t>IIIT Nagpur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B0A60E-036C-7A4E-2593-B16A376809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514" y="2125590"/>
            <a:ext cx="2438400" cy="24384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BEC0D96-E9F6-6031-DED1-5658747DE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8520" y="2125590"/>
            <a:ext cx="2438400" cy="2438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D8E9774-26FC-D0CB-B87A-AC8C7DD7F700}"/>
              </a:ext>
            </a:extLst>
          </p:cNvPr>
          <p:cNvSpPr txBox="1"/>
          <p:nvPr/>
        </p:nvSpPr>
        <p:spPr>
          <a:xfrm>
            <a:off x="7322258" y="4786000"/>
            <a:ext cx="20524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12304A"/>
                </a:solidFill>
              </a:rPr>
              <a:t>Cloudy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7D5427-7F51-FC8B-37BA-AE42BD98F00E}"/>
              </a:ext>
            </a:extLst>
          </p:cNvPr>
          <p:cNvSpPr txBox="1"/>
          <p:nvPr/>
        </p:nvSpPr>
        <p:spPr>
          <a:xfrm>
            <a:off x="10541908" y="4786000"/>
            <a:ext cx="20524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>
                <a:solidFill>
                  <a:srgbClr val="12304A"/>
                </a:solidFill>
              </a:rPr>
              <a:t>Clear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1BB3357D-7001-84CB-E225-739060B19759}"/>
              </a:ext>
            </a:extLst>
          </p:cNvPr>
          <p:cNvSpPr/>
          <p:nvPr/>
        </p:nvSpPr>
        <p:spPr>
          <a:xfrm>
            <a:off x="9022801" y="3264181"/>
            <a:ext cx="592831" cy="283464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solidFill>
                <a:srgbClr val="1976D2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542A80-662E-E6E9-CDB8-E9A779FC120D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" name="Picture 1" descr="IIITN Logo">
            <a:extLst>
              <a:ext uri="{FF2B5EF4-FFF2-40B4-BE49-F238E27FC236}">
                <a16:creationId xmlns:a16="http://schemas.microsoft.com/office/drawing/2014/main" id="{E8800E59-AC3E-A3CD-9C05-8CDC032B1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6264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559F5-BF52-1D12-6C61-560823C42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8DFE811-25D5-2FCA-94E4-52DD2F8A48C6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4B396A-58DC-9920-DB4D-878B178090FB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EAA63-123F-FAE9-611C-3F10B86C6EFF}"/>
              </a:ext>
            </a:extLst>
          </p:cNvPr>
          <p:cNvSpPr txBox="1"/>
          <p:nvPr/>
        </p:nvSpPr>
        <p:spPr>
          <a:xfrm>
            <a:off x="177105" y="320040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Problem Statement &amp; Motivation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FF65FE5-45C4-17BA-9114-7C16934EDF04}"/>
              </a:ext>
            </a:extLst>
          </p:cNvPr>
          <p:cNvSpPr/>
          <p:nvPr/>
        </p:nvSpPr>
        <p:spPr>
          <a:xfrm>
            <a:off x="177104" y="1152855"/>
            <a:ext cx="5464743" cy="3317857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sz="2100" b="1" dirty="0">
              <a:solidFill>
                <a:srgbClr val="000435"/>
              </a:solidFill>
            </a:endParaRPr>
          </a:p>
          <a:p>
            <a:r>
              <a:rPr lang="en-IN" sz="2100" b="1" dirty="0">
                <a:solidFill>
                  <a:srgbClr val="000435"/>
                </a:solidFill>
              </a:rPr>
              <a:t>The Problem</a:t>
            </a:r>
          </a:p>
          <a:p>
            <a:pPr algn="ctr"/>
            <a:endParaRPr lang="en-IN" sz="2100" dirty="0">
              <a:solidFill>
                <a:srgbClr val="000435"/>
              </a:solidFill>
            </a:endParaRPr>
          </a:p>
          <a:p>
            <a:r>
              <a:rPr lang="en-IN" dirty="0">
                <a:solidFill>
                  <a:srgbClr val="333333"/>
                </a:solidFill>
              </a:rPr>
              <a:t>• Clouds obscure the Earth's surface in optical satellite imagery.</a:t>
            </a:r>
          </a:p>
          <a:p>
            <a:r>
              <a:rPr lang="en-IN" dirty="0">
                <a:solidFill>
                  <a:srgbClr val="333333"/>
                </a:solidFill>
              </a:rPr>
              <a:t>• Cloud-covered regions lose important </a:t>
            </a:r>
            <a:r>
              <a:rPr lang="en-IN" b="1" dirty="0">
                <a:solidFill>
                  <a:srgbClr val="00897B"/>
                </a:solidFill>
              </a:rPr>
              <a:t>spatial information</a:t>
            </a:r>
            <a:r>
              <a:rPr lang="en-IN" dirty="0">
                <a:solidFill>
                  <a:srgbClr val="333333"/>
                </a:solidFill>
              </a:rPr>
              <a:t>.</a:t>
            </a:r>
          </a:p>
          <a:p>
            <a:r>
              <a:rPr lang="en-IN" dirty="0">
                <a:solidFill>
                  <a:srgbClr val="333333"/>
                </a:solidFill>
              </a:rPr>
              <a:t>• Cloud contamination affects </a:t>
            </a:r>
            <a:r>
              <a:rPr lang="en-IN" b="1" dirty="0">
                <a:solidFill>
                  <a:srgbClr val="00897B"/>
                </a:solidFill>
              </a:rPr>
              <a:t>spectral information</a:t>
            </a:r>
            <a:r>
              <a:rPr lang="en-IN" dirty="0">
                <a:solidFill>
                  <a:srgbClr val="333333"/>
                </a:solidFill>
              </a:rPr>
              <a:t>.</a:t>
            </a:r>
          </a:p>
          <a:p>
            <a:r>
              <a:rPr lang="en-IN" dirty="0">
                <a:solidFill>
                  <a:srgbClr val="333333"/>
                </a:solidFill>
              </a:rPr>
              <a:t>• This limits reliable analysis of the Earth's surface.</a:t>
            </a:r>
          </a:p>
          <a:p>
            <a:pPr algn="ctr"/>
            <a:endParaRPr lang="en-IN" sz="2100" dirty="0">
              <a:solidFill>
                <a:srgbClr val="000435"/>
              </a:solidFill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521872C-F0DB-27F6-FCAE-2A1FB221043A}"/>
              </a:ext>
            </a:extLst>
          </p:cNvPr>
          <p:cNvSpPr/>
          <p:nvPr/>
        </p:nvSpPr>
        <p:spPr>
          <a:xfrm>
            <a:off x="6550153" y="1152855"/>
            <a:ext cx="5464743" cy="3317857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000435"/>
                </a:solidFill>
              </a:rPr>
              <a:t>Why Cloud Removal?</a:t>
            </a:r>
          </a:p>
          <a:p>
            <a:pPr algn="ctr"/>
            <a:endParaRPr lang="en-IN" sz="2100" b="1" dirty="0">
              <a:solidFill>
                <a:srgbClr val="000435"/>
              </a:solidFill>
            </a:endParaRPr>
          </a:p>
          <a:p>
            <a:r>
              <a:rPr lang="en-IN" dirty="0">
                <a:solidFill>
                  <a:srgbClr val="333333"/>
                </a:solidFill>
              </a:rPr>
              <a:t>• Recover information hidden beneath clouds.</a:t>
            </a:r>
          </a:p>
          <a:p>
            <a:r>
              <a:rPr lang="en-IN" dirty="0">
                <a:solidFill>
                  <a:srgbClr val="333333"/>
                </a:solidFill>
              </a:rPr>
              <a:t>• Improve the usability of optical satellite imagery.</a:t>
            </a:r>
          </a:p>
          <a:p>
            <a:r>
              <a:rPr lang="en-IN" dirty="0">
                <a:solidFill>
                  <a:srgbClr val="333333"/>
                </a:solidFill>
              </a:rPr>
              <a:t>• Preserve both </a:t>
            </a:r>
            <a:r>
              <a:rPr lang="en-IN" b="1" dirty="0">
                <a:solidFill>
                  <a:srgbClr val="00897B"/>
                </a:solidFill>
              </a:rPr>
              <a:t>spatial details</a:t>
            </a:r>
            <a:r>
              <a:rPr lang="en-IN" dirty="0">
                <a:solidFill>
                  <a:srgbClr val="00897B"/>
                </a:solidFill>
              </a:rPr>
              <a:t> </a:t>
            </a:r>
            <a:r>
              <a:rPr lang="en-IN" dirty="0">
                <a:solidFill>
                  <a:srgbClr val="333333"/>
                </a:solidFill>
              </a:rPr>
              <a:t>and </a:t>
            </a:r>
            <a:r>
              <a:rPr lang="en-IN" b="1" dirty="0">
                <a:solidFill>
                  <a:srgbClr val="00897B"/>
                </a:solidFill>
              </a:rPr>
              <a:t>spectral characteristics</a:t>
            </a:r>
            <a:r>
              <a:rPr lang="en-IN" dirty="0">
                <a:solidFill>
                  <a:srgbClr val="00897B"/>
                </a:solidFill>
              </a:rPr>
              <a:t>.</a:t>
            </a:r>
          </a:p>
          <a:p>
            <a:pPr algn="ctr"/>
            <a:endParaRPr lang="en-IN" sz="2100" dirty="0">
              <a:solidFill>
                <a:srgbClr val="000435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87D4C7-B412-24B8-56C1-0F255B2087B5}"/>
              </a:ext>
            </a:extLst>
          </p:cNvPr>
          <p:cNvSpPr/>
          <p:nvPr/>
        </p:nvSpPr>
        <p:spPr>
          <a:xfrm>
            <a:off x="271431" y="4820622"/>
            <a:ext cx="11649137" cy="1817921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00897B"/>
                </a:solidFill>
              </a:rPr>
              <a:t>Objective</a:t>
            </a:r>
          </a:p>
          <a:p>
            <a:endParaRPr lang="en-IN" sz="2000" b="1" dirty="0">
              <a:solidFill>
                <a:srgbClr val="00897B"/>
              </a:solidFill>
            </a:endParaRPr>
          </a:p>
          <a:p>
            <a:r>
              <a:rPr lang="en-IN" sz="2000" dirty="0">
                <a:solidFill>
                  <a:srgbClr val="333333"/>
                </a:solidFill>
              </a:rPr>
              <a:t>Reconstruct a cloud-free LISS-IV image from a cloudy observation while preserving </a:t>
            </a:r>
            <a:r>
              <a:rPr lang="en-IN" sz="2000" dirty="0">
                <a:solidFill>
                  <a:srgbClr val="00897B"/>
                </a:solidFill>
              </a:rPr>
              <a:t>spatial details </a:t>
            </a:r>
            <a:r>
              <a:rPr lang="en-IN" sz="2000" dirty="0">
                <a:solidFill>
                  <a:srgbClr val="333333"/>
                </a:solidFill>
              </a:rPr>
              <a:t>and </a:t>
            </a:r>
            <a:r>
              <a:rPr lang="en-IN" sz="2000" dirty="0">
                <a:solidFill>
                  <a:srgbClr val="00897B"/>
                </a:solidFill>
              </a:rPr>
              <a:t>spectral information</a:t>
            </a:r>
            <a:r>
              <a:rPr lang="en-IN" sz="2000" dirty="0">
                <a:solidFill>
                  <a:srgbClr val="333333"/>
                </a:solidFill>
              </a:rPr>
              <a:t>.</a:t>
            </a:r>
            <a:endParaRPr lang="en-IN" sz="2000" b="1" dirty="0">
              <a:solidFill>
                <a:srgbClr val="333333"/>
              </a:solidFill>
            </a:endParaRPr>
          </a:p>
        </p:txBody>
      </p:sp>
      <p:pic>
        <p:nvPicPr>
          <p:cNvPr id="5" name="Picture 4" descr="IIITN Logo">
            <a:extLst>
              <a:ext uri="{FF2B5EF4-FFF2-40B4-BE49-F238E27FC236}">
                <a16:creationId xmlns:a16="http://schemas.microsoft.com/office/drawing/2014/main" id="{47EC6067-FF58-5A8F-21CD-94C9F88FF2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833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D840-97C8-557C-88E5-2EA6EB6BC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86F2647-3D9E-3A3F-17F3-69A54270C20C}"/>
              </a:ext>
            </a:extLst>
          </p:cNvPr>
          <p:cNvSpPr/>
          <p:nvPr/>
        </p:nvSpPr>
        <p:spPr>
          <a:xfrm>
            <a:off x="273303" y="1061459"/>
            <a:ext cx="5368544" cy="3681759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000435"/>
                </a:solidFill>
              </a:rPr>
              <a:t>Existing Research</a:t>
            </a:r>
          </a:p>
          <a:p>
            <a:endParaRPr lang="en-IN" sz="2400" b="1" dirty="0">
              <a:solidFill>
                <a:srgbClr val="000435"/>
              </a:solidFill>
            </a:endParaRPr>
          </a:p>
          <a:p>
            <a:r>
              <a:rPr lang="en-IN" b="1" dirty="0">
                <a:solidFill>
                  <a:srgbClr val="000435"/>
                </a:solidFill>
              </a:rPr>
              <a:t>Commonly used Data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Sentinel-2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Sentinel-1 + Sentinel-2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Landsat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Multi-sensor datasets</a:t>
            </a:r>
          </a:p>
          <a:p>
            <a:pPr lvl="0"/>
            <a:r>
              <a:rPr lang="en-IN" b="1" dirty="0">
                <a:solidFill>
                  <a:srgbClr val="000435"/>
                </a:solidFill>
              </a:rPr>
              <a:t>Existing Approaches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CNN / Encoder–Decoder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Residual networks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GAN-based reconstruction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SAR–optical fusion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6E3122-7593-F43F-6E1C-0786D832B2C8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2E53A59-8395-BC3E-DF42-0A433DD0A864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3DD97-21B9-EBC1-2CCB-248A885859E8}"/>
              </a:ext>
            </a:extLst>
          </p:cNvPr>
          <p:cNvSpPr txBox="1"/>
          <p:nvPr/>
        </p:nvSpPr>
        <p:spPr>
          <a:xfrm>
            <a:off x="177105" y="269482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Existing Solutions &amp; Research Gap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912964A-04B4-6D43-E4D8-F9AC1B0930B1}"/>
              </a:ext>
            </a:extLst>
          </p:cNvPr>
          <p:cNvSpPr/>
          <p:nvPr/>
        </p:nvSpPr>
        <p:spPr>
          <a:xfrm>
            <a:off x="6550155" y="1061459"/>
            <a:ext cx="5368543" cy="3681759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12304A"/>
                </a:solidFill>
              </a:rPr>
              <a:t>Research Gap</a:t>
            </a:r>
          </a:p>
          <a:p>
            <a:endParaRPr lang="en-IN" sz="2100" b="1" dirty="0">
              <a:solidFill>
                <a:srgbClr val="12304A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0435"/>
                </a:solidFill>
              </a:rPr>
              <a:t>Deep-learning cloud-removal research is strongly represented by Sentinel-2 and multi-sensor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00897B"/>
                </a:solidFill>
              </a:rPr>
              <a:t>LISS-IV-specific</a:t>
            </a:r>
            <a:r>
              <a:rPr lang="en-IN" dirty="0">
                <a:solidFill>
                  <a:srgbClr val="000435"/>
                </a:solidFill>
              </a:rPr>
              <a:t> cloud-removal research and benchmark datasets are comparatively less explored.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686FFD6-D8C2-F60F-E8BB-FE580059E0FF}"/>
              </a:ext>
            </a:extLst>
          </p:cNvPr>
          <p:cNvSpPr/>
          <p:nvPr/>
        </p:nvSpPr>
        <p:spPr>
          <a:xfrm>
            <a:off x="177105" y="4950420"/>
            <a:ext cx="11837792" cy="1638098"/>
          </a:xfrm>
          <a:prstGeom prst="roundRect">
            <a:avLst/>
          </a:prstGeom>
          <a:solidFill>
            <a:srgbClr val="DFF2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00897B"/>
                </a:solidFill>
              </a:rPr>
              <a:t>Our Direction</a:t>
            </a:r>
          </a:p>
          <a:p>
            <a:endParaRPr lang="en-IN" sz="2000" b="1" dirty="0">
              <a:solidFill>
                <a:srgbClr val="00897B"/>
              </a:solidFill>
            </a:endParaRPr>
          </a:p>
          <a:p>
            <a:r>
              <a:rPr lang="en-IN" sz="2000" dirty="0">
                <a:solidFill>
                  <a:srgbClr val="000435"/>
                </a:solidFill>
              </a:rPr>
              <a:t>Develop and evaluate a native </a:t>
            </a:r>
            <a:r>
              <a:rPr lang="en-IN" sz="2000" b="1" dirty="0">
                <a:solidFill>
                  <a:srgbClr val="00897B"/>
                </a:solidFill>
              </a:rPr>
              <a:t>LISS-IV cloud-removal pipeline </a:t>
            </a:r>
            <a:r>
              <a:rPr lang="en-IN" sz="2000" dirty="0">
                <a:solidFill>
                  <a:srgbClr val="000435"/>
                </a:solidFill>
              </a:rPr>
              <a:t>using paired cloudy and cloud-free imagery.</a:t>
            </a:r>
            <a:endParaRPr lang="en-IN" sz="2000" b="1" dirty="0">
              <a:solidFill>
                <a:srgbClr val="000435"/>
              </a:solidFill>
            </a:endParaRPr>
          </a:p>
        </p:txBody>
      </p:sp>
      <p:pic>
        <p:nvPicPr>
          <p:cNvPr id="5" name="Picture 4" descr="IIITN Logo">
            <a:extLst>
              <a:ext uri="{FF2B5EF4-FFF2-40B4-BE49-F238E27FC236}">
                <a16:creationId xmlns:a16="http://schemas.microsoft.com/office/drawing/2014/main" id="{28B93214-F8BA-43D5-1F3C-DEA060942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902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5C1F0-8EFC-1BAA-3A94-21C353274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D62C34-6E7E-E811-74C9-50271086DBDA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127518-80F3-9959-8446-E18C58D88CDB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54C52C-A5D4-C860-CB1C-6D6E8E0AE326}"/>
              </a:ext>
            </a:extLst>
          </p:cNvPr>
          <p:cNvSpPr txBox="1"/>
          <p:nvPr/>
        </p:nvSpPr>
        <p:spPr>
          <a:xfrm>
            <a:off x="270870" y="248653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Why LISS-IV?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59F2D54-D46C-A562-EA3D-886F3A9355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166827"/>
              </p:ext>
            </p:extLst>
          </p:nvPr>
        </p:nvGraphicFramePr>
        <p:xfrm>
          <a:off x="764674" y="1489687"/>
          <a:ext cx="10288338" cy="3210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446">
                  <a:extLst>
                    <a:ext uri="{9D8B030D-6E8A-4147-A177-3AD203B41FA5}">
                      <a16:colId xmlns:a16="http://schemas.microsoft.com/office/drawing/2014/main" val="912213218"/>
                    </a:ext>
                  </a:extLst>
                </a:gridCol>
                <a:gridCol w="3429446">
                  <a:extLst>
                    <a:ext uri="{9D8B030D-6E8A-4147-A177-3AD203B41FA5}">
                      <a16:colId xmlns:a16="http://schemas.microsoft.com/office/drawing/2014/main" val="1282924125"/>
                    </a:ext>
                  </a:extLst>
                </a:gridCol>
                <a:gridCol w="3429446">
                  <a:extLst>
                    <a:ext uri="{9D8B030D-6E8A-4147-A177-3AD203B41FA5}">
                      <a16:colId xmlns:a16="http://schemas.microsoft.com/office/drawing/2014/main" val="523454986"/>
                    </a:ext>
                  </a:extLst>
                </a:gridCol>
              </a:tblGrid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</a:rPr>
                        <a:t>Sentinel-2</a:t>
                      </a:r>
                    </a:p>
                  </a:txBody>
                  <a:tcPr anchor="ctr">
                    <a:solidFill>
                      <a:srgbClr val="1230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chemeClr val="bg1"/>
                          </a:solidFill>
                        </a:rPr>
                        <a:t>LISS-IV</a:t>
                      </a:r>
                    </a:p>
                  </a:txBody>
                  <a:tcPr anchor="ctr">
                    <a:solidFill>
                      <a:srgbClr val="1230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1295227"/>
                  </a:ext>
                </a:extLst>
              </a:tr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Programme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333333"/>
                          </a:solidFill>
                        </a:rPr>
                        <a:t>Copernicus / ESA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897B"/>
                          </a:solidFill>
                        </a:rPr>
                        <a:t>Resource sat / ISRO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100773"/>
                  </a:ext>
                </a:extLst>
              </a:tr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Multispectral bands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897B"/>
                          </a:solidFill>
                        </a:rPr>
                        <a:t>3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973575"/>
                  </a:ext>
                </a:extLst>
              </a:tr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Highest spatial resolution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10 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897B"/>
                          </a:solidFill>
                        </a:rPr>
                        <a:t>5.8 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8376848"/>
                  </a:ext>
                </a:extLst>
              </a:tr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333333"/>
                          </a:solidFill>
                        </a:rPr>
                        <a:t>Representation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897B"/>
                          </a:solidFill>
                        </a:rPr>
                        <a:t>B4–B3–B2 FCC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584726"/>
                  </a:ext>
                </a:extLst>
              </a:tr>
              <a:tr h="5351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333333"/>
                          </a:solidFill>
                        </a:rPr>
                        <a:t>Research maturity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Extensive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>
                          <a:solidFill>
                            <a:srgbClr val="00897B"/>
                          </a:solidFill>
                        </a:rPr>
                        <a:t>Comparatively less explored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2032312"/>
                  </a:ext>
                </a:extLst>
              </a:tr>
            </a:tbl>
          </a:graphicData>
        </a:graphic>
      </p:graphicFrame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7AFD613-B30C-C914-0456-7EC863463684}"/>
              </a:ext>
            </a:extLst>
          </p:cNvPr>
          <p:cNvSpPr/>
          <p:nvPr/>
        </p:nvSpPr>
        <p:spPr>
          <a:xfrm>
            <a:off x="106277" y="4892040"/>
            <a:ext cx="3758185" cy="1717307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rgbClr val="12304A"/>
                </a:solidFill>
              </a:rPr>
              <a:t>01 — Higher spatial resolution</a:t>
            </a:r>
          </a:p>
          <a:p>
            <a:endParaRPr lang="en-IN" dirty="0">
              <a:solidFill>
                <a:srgbClr val="12304A"/>
              </a:solidFill>
            </a:endParaRPr>
          </a:p>
          <a:p>
            <a:r>
              <a:rPr lang="en-IN" sz="1600" dirty="0">
                <a:solidFill>
                  <a:srgbClr val="333333"/>
                </a:solidFill>
              </a:rPr>
              <a:t>LISS-IV: </a:t>
            </a:r>
            <a:r>
              <a:rPr lang="en-IN" sz="1600" b="1" dirty="0">
                <a:solidFill>
                  <a:srgbClr val="00897B"/>
                </a:solidFill>
              </a:rPr>
              <a:t>5.8 m</a:t>
            </a:r>
            <a:br>
              <a:rPr lang="en-IN" sz="1600" dirty="0">
                <a:solidFill>
                  <a:srgbClr val="333333"/>
                </a:solidFill>
              </a:rPr>
            </a:br>
            <a:r>
              <a:rPr lang="en-IN" sz="1600" dirty="0">
                <a:solidFill>
                  <a:srgbClr val="333333"/>
                </a:solidFill>
              </a:rPr>
              <a:t>vs Sentinel-2: </a:t>
            </a:r>
            <a:r>
              <a:rPr lang="en-IN" sz="1600" b="1" dirty="0">
                <a:solidFill>
                  <a:srgbClr val="333333"/>
                </a:solidFill>
              </a:rPr>
              <a:t>10 m</a:t>
            </a:r>
            <a:endParaRPr lang="en-IN" sz="1600" dirty="0">
              <a:solidFill>
                <a:srgbClr val="333333"/>
              </a:solidFill>
            </a:endParaRPr>
          </a:p>
          <a:p>
            <a:pPr algn="ctr"/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C2E2B11-3DE1-49C1-7E5C-5E7A2D162F4C}"/>
              </a:ext>
            </a:extLst>
          </p:cNvPr>
          <p:cNvSpPr/>
          <p:nvPr/>
        </p:nvSpPr>
        <p:spPr>
          <a:xfrm>
            <a:off x="3994486" y="4892040"/>
            <a:ext cx="3928153" cy="1717307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b="1" dirty="0">
                <a:solidFill>
                  <a:srgbClr val="12304A"/>
                </a:solidFill>
              </a:rPr>
              <a:t>02 — Indian Earth-observation context</a:t>
            </a:r>
          </a:p>
          <a:p>
            <a:endParaRPr lang="en-IN" b="1" dirty="0">
              <a:solidFill>
                <a:srgbClr val="12304A"/>
              </a:solidFill>
            </a:endParaRPr>
          </a:p>
          <a:p>
            <a:r>
              <a:rPr lang="en-IN" sz="1600" dirty="0">
                <a:solidFill>
                  <a:srgbClr val="333333"/>
                </a:solidFill>
              </a:rPr>
              <a:t>LISS-IV belongs to India's</a:t>
            </a:r>
            <a:br>
              <a:rPr lang="en-IN" sz="1600" dirty="0">
                <a:solidFill>
                  <a:srgbClr val="333333"/>
                </a:solidFill>
              </a:rPr>
            </a:br>
            <a:r>
              <a:rPr lang="en-IN" sz="1600" b="1" dirty="0" err="1">
                <a:solidFill>
                  <a:srgbClr val="00897B"/>
                </a:solidFill>
              </a:rPr>
              <a:t>Resourcesat</a:t>
            </a:r>
            <a:r>
              <a:rPr lang="en-IN" sz="1600" b="1" dirty="0">
                <a:solidFill>
                  <a:srgbClr val="00897B"/>
                </a:solidFill>
              </a:rPr>
              <a:t> programme</a:t>
            </a:r>
            <a:r>
              <a:rPr lang="en-IN" sz="1600" b="1" dirty="0">
                <a:solidFill>
                  <a:srgbClr val="333333"/>
                </a:solidFill>
              </a:rPr>
              <a:t>.</a:t>
            </a:r>
            <a:endParaRPr lang="en-IN" sz="1600" dirty="0">
              <a:solidFill>
                <a:srgbClr val="333333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5BC770-2B54-816C-DBE0-1C46D0B6679B}"/>
              </a:ext>
            </a:extLst>
          </p:cNvPr>
          <p:cNvSpPr/>
          <p:nvPr/>
        </p:nvSpPr>
        <p:spPr>
          <a:xfrm>
            <a:off x="8052663" y="4892040"/>
            <a:ext cx="3928153" cy="1717307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dirty="0">
                <a:solidFill>
                  <a:srgbClr val="12304A"/>
                </a:solidFill>
              </a:rPr>
              <a:t>03 — Research opportunity</a:t>
            </a:r>
          </a:p>
          <a:p>
            <a:endParaRPr lang="en-IN" dirty="0">
              <a:solidFill>
                <a:srgbClr val="12304A"/>
              </a:solidFill>
            </a:endParaRPr>
          </a:p>
          <a:p>
            <a:r>
              <a:rPr lang="en-IN" sz="1600" dirty="0">
                <a:solidFill>
                  <a:srgbClr val="333333"/>
                </a:solidFill>
              </a:rPr>
              <a:t>Investigate cloud removal specifically for</a:t>
            </a:r>
            <a:br>
              <a:rPr lang="en-IN" sz="1600" dirty="0">
                <a:solidFill>
                  <a:srgbClr val="333333"/>
                </a:solidFill>
              </a:rPr>
            </a:br>
            <a:r>
              <a:rPr lang="en-IN" sz="1600" b="1" dirty="0">
                <a:solidFill>
                  <a:srgbClr val="00897B"/>
                </a:solidFill>
              </a:rPr>
              <a:t>high-resolution LISS-IV imagery</a:t>
            </a:r>
            <a:r>
              <a:rPr lang="en-IN" sz="1600" b="1" dirty="0">
                <a:solidFill>
                  <a:srgbClr val="333333"/>
                </a:solidFill>
              </a:rPr>
              <a:t>.</a:t>
            </a:r>
            <a:endParaRPr lang="en-IN" sz="1600" dirty="0">
              <a:solidFill>
                <a:srgbClr val="333333"/>
              </a:solidFill>
            </a:endParaRPr>
          </a:p>
        </p:txBody>
      </p:sp>
      <p:pic>
        <p:nvPicPr>
          <p:cNvPr id="9" name="Picture 8" descr="IIITN Logo">
            <a:extLst>
              <a:ext uri="{FF2B5EF4-FFF2-40B4-BE49-F238E27FC236}">
                <a16:creationId xmlns:a16="http://schemas.microsoft.com/office/drawing/2014/main" id="{58808E05-C0EB-E046-2AB4-BE1C5BCCAF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102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F1DC0-C00F-F34E-3947-ED2809C5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F028917-9E15-3D99-7576-C4D6D782D4A0}"/>
              </a:ext>
            </a:extLst>
          </p:cNvPr>
          <p:cNvSpPr/>
          <p:nvPr/>
        </p:nvSpPr>
        <p:spPr>
          <a:xfrm>
            <a:off x="6180255" y="851082"/>
            <a:ext cx="5368545" cy="3830656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CD6239-0D57-1C37-AFC6-92477D56CC4C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46B6AD-FF3D-A93C-0053-CEF0EA051363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3943AD6-7935-9F31-B7EC-ABBDF83C3AD6}"/>
              </a:ext>
            </a:extLst>
          </p:cNvPr>
          <p:cNvSpPr txBox="1"/>
          <p:nvPr/>
        </p:nvSpPr>
        <p:spPr>
          <a:xfrm>
            <a:off x="177105" y="266307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000435"/>
                </a:solidFill>
              </a:rPr>
              <a:t>Dataset &amp; Data Preparation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A31D20B-4783-0E1B-9A14-993AC306DCCC}"/>
              </a:ext>
            </a:extLst>
          </p:cNvPr>
          <p:cNvSpPr/>
          <p:nvPr/>
        </p:nvSpPr>
        <p:spPr>
          <a:xfrm>
            <a:off x="291519" y="905702"/>
            <a:ext cx="5368545" cy="3827546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000435"/>
                </a:solidFill>
              </a:rPr>
              <a:t>Dataset</a:t>
            </a:r>
          </a:p>
          <a:p>
            <a:endParaRPr lang="en-IN" sz="2400" b="1" dirty="0">
              <a:solidFill>
                <a:srgbClr val="000435"/>
              </a:solidFill>
            </a:endParaRPr>
          </a:p>
          <a:p>
            <a:r>
              <a:rPr lang="en-IN" b="1" dirty="0">
                <a:solidFill>
                  <a:srgbClr val="000435"/>
                </a:solidFill>
              </a:rPr>
              <a:t>LISS-IV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2304A"/>
                </a:solidFill>
              </a:rPr>
              <a:t>Resourcesat-2/2A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2304A"/>
                </a:solidFill>
              </a:rPr>
              <a:t>B2 — Green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2304A"/>
                </a:solidFill>
              </a:rPr>
              <a:t>B3 — Red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2304A"/>
                </a:solidFill>
              </a:rPr>
              <a:t>B4 — NIR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500" dirty="0">
                <a:solidFill>
                  <a:srgbClr val="12304A"/>
                </a:solidFill>
              </a:rPr>
              <a:t>FCC: </a:t>
            </a:r>
            <a:r>
              <a:rPr lang="en-IN" sz="1500" b="1" dirty="0">
                <a:solidFill>
                  <a:srgbClr val="12304A"/>
                </a:solidFill>
              </a:rPr>
              <a:t>[B4, B3, B2]</a:t>
            </a:r>
            <a:r>
              <a:rPr lang="en-IN" sz="1500" dirty="0">
                <a:solidFill>
                  <a:srgbClr val="12304A"/>
                </a:solidFill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00897B"/>
                </a:solidFill>
              </a:rPr>
              <a:t>~</a:t>
            </a:r>
            <a:r>
              <a:rPr lang="en-IN" sz="1500" dirty="0">
                <a:solidFill>
                  <a:srgbClr val="00897B"/>
                </a:solidFill>
              </a:rPr>
              <a:t>5.8 m spatial resolution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748201-9851-A3BA-25C2-8D3A32DC6DD8}"/>
              </a:ext>
            </a:extLst>
          </p:cNvPr>
          <p:cNvSpPr txBox="1"/>
          <p:nvPr/>
        </p:nvSpPr>
        <p:spPr>
          <a:xfrm>
            <a:off x="6569095" y="1020249"/>
            <a:ext cx="32701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12304A"/>
                </a:solidFill>
              </a:rPr>
              <a:t>Data Preparation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494E4A3-0CBF-B7E5-9448-B460396FF267}"/>
              </a:ext>
            </a:extLst>
          </p:cNvPr>
          <p:cNvSpPr/>
          <p:nvPr/>
        </p:nvSpPr>
        <p:spPr>
          <a:xfrm>
            <a:off x="177104" y="4850905"/>
            <a:ext cx="11883832" cy="1850957"/>
          </a:xfrm>
          <a:prstGeom prst="roundRect">
            <a:avLst/>
          </a:prstGeom>
          <a:solidFill>
            <a:srgbClr val="DFF2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00897B"/>
                </a:solidFill>
              </a:rPr>
              <a:t>235,001 Paired Patches</a:t>
            </a:r>
          </a:p>
          <a:p>
            <a:endParaRPr lang="en-IN" sz="2000" b="1" dirty="0">
              <a:solidFill>
                <a:srgbClr val="00897B"/>
              </a:solidFill>
            </a:endParaRPr>
          </a:p>
          <a:p>
            <a:endParaRPr lang="en-IN" sz="2000" b="1" dirty="0">
              <a:solidFill>
                <a:srgbClr val="00897B"/>
              </a:solidFill>
            </a:endParaRPr>
          </a:p>
          <a:p>
            <a:endParaRPr lang="en-IN" sz="2000" b="1" dirty="0">
              <a:solidFill>
                <a:srgbClr val="00897B"/>
              </a:solidFill>
            </a:endParaRPr>
          </a:p>
          <a:p>
            <a:pPr algn="ctr"/>
            <a:r>
              <a:rPr lang="en-IN" sz="2000">
                <a:solidFill>
                  <a:srgbClr val="12304A"/>
                </a:solidFill>
              </a:rPr>
              <a:t>Scene-level split → reduces spatial leakage</a:t>
            </a:r>
            <a:endParaRPr lang="en-IN" sz="2000" b="1" dirty="0">
              <a:solidFill>
                <a:srgbClr val="12304A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E9B3E033-C7B7-D409-9D4E-69717BB19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9195"/>
              </p:ext>
            </p:extLst>
          </p:nvPr>
        </p:nvGraphicFramePr>
        <p:xfrm>
          <a:off x="402336" y="5373726"/>
          <a:ext cx="11420856" cy="633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6952">
                  <a:extLst>
                    <a:ext uri="{9D8B030D-6E8A-4147-A177-3AD203B41FA5}">
                      <a16:colId xmlns:a16="http://schemas.microsoft.com/office/drawing/2014/main" val="2285839132"/>
                    </a:ext>
                  </a:extLst>
                </a:gridCol>
                <a:gridCol w="3806952">
                  <a:extLst>
                    <a:ext uri="{9D8B030D-6E8A-4147-A177-3AD203B41FA5}">
                      <a16:colId xmlns:a16="http://schemas.microsoft.com/office/drawing/2014/main" val="730412599"/>
                    </a:ext>
                  </a:extLst>
                </a:gridCol>
                <a:gridCol w="3806952">
                  <a:extLst>
                    <a:ext uri="{9D8B030D-6E8A-4147-A177-3AD203B41FA5}">
                      <a16:colId xmlns:a16="http://schemas.microsoft.com/office/drawing/2014/main" val="1381325117"/>
                    </a:ext>
                  </a:extLst>
                </a:gridCol>
              </a:tblGrid>
              <a:tr h="633192"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rgbClr val="000435"/>
                          </a:solidFill>
                        </a:rPr>
                        <a:t>Train: 185,001  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rgbClr val="000435"/>
                          </a:solidFill>
                        </a:rPr>
                        <a:t>Validation: 25,000  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IN" b="1" dirty="0">
                          <a:solidFill>
                            <a:srgbClr val="000435"/>
                          </a:solidFill>
                        </a:rPr>
                        <a:t>Test: 25,000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595665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6DC562B2-6D23-DF77-5EF8-F911EFCB65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840" y="1566052"/>
            <a:ext cx="2023466" cy="298983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C99003E-3454-755E-230C-4FC410089E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840" y="3941064"/>
            <a:ext cx="918232" cy="69941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E17B7B1-3761-9AC7-6489-49F7E4FB2F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6688" y="3941064"/>
            <a:ext cx="918232" cy="661704"/>
          </a:xfrm>
          <a:prstGeom prst="rect">
            <a:avLst/>
          </a:prstGeom>
        </p:spPr>
      </p:pic>
      <p:pic>
        <p:nvPicPr>
          <p:cNvPr id="5" name="Picture 4" descr="IIITN Logo">
            <a:extLst>
              <a:ext uri="{FF2B5EF4-FFF2-40B4-BE49-F238E27FC236}">
                <a16:creationId xmlns:a16="http://schemas.microsoft.com/office/drawing/2014/main" id="{B763BDAB-2CA3-00E5-6E7B-399C0D015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455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8038-8D22-6B39-FC78-AEB3962E0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AD7B192-AECE-1E70-1766-FB5879837925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FD7621-7E6B-0C7E-25AC-3ED8F0A5089F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37693D-423C-7F10-ECF3-CD2D30055639}"/>
              </a:ext>
            </a:extLst>
          </p:cNvPr>
          <p:cNvSpPr txBox="1"/>
          <p:nvPr/>
        </p:nvSpPr>
        <p:spPr>
          <a:xfrm>
            <a:off x="177105" y="266307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000435"/>
                </a:solidFill>
              </a:rPr>
              <a:t>Overall Workflow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16645E-CB27-C1D9-BD48-9A16328F9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675" y="1002619"/>
            <a:ext cx="9842373" cy="5379733"/>
          </a:xfrm>
          <a:prstGeom prst="rect">
            <a:avLst/>
          </a:prstGeom>
        </p:spPr>
      </p:pic>
      <p:pic>
        <p:nvPicPr>
          <p:cNvPr id="5" name="Picture 4" descr="IIITN Logo">
            <a:extLst>
              <a:ext uri="{FF2B5EF4-FFF2-40B4-BE49-F238E27FC236}">
                <a16:creationId xmlns:a16="http://schemas.microsoft.com/office/drawing/2014/main" id="{91EDFF3D-6AAA-7553-5565-071FAFF53C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673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99E90-6CAE-3D48-AECE-48AD2F8B4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98665C-AAE7-7441-7E22-87675CD49117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04614FC-5C36-D399-FF07-FE2C26727746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1E2DB2-3ADE-555D-3623-39B0F8CE3F4E}"/>
              </a:ext>
            </a:extLst>
          </p:cNvPr>
          <p:cNvSpPr txBox="1"/>
          <p:nvPr/>
        </p:nvSpPr>
        <p:spPr>
          <a:xfrm>
            <a:off x="177105" y="269482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Baseline Model – U-Net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190AB2C-809A-3AE7-A304-869E6B3BD29D}"/>
              </a:ext>
            </a:extLst>
          </p:cNvPr>
          <p:cNvSpPr/>
          <p:nvPr/>
        </p:nvSpPr>
        <p:spPr>
          <a:xfrm>
            <a:off x="7567864" y="854257"/>
            <a:ext cx="4206240" cy="4037783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100" dirty="0">
                <a:solidFill>
                  <a:srgbClr val="12304A"/>
                </a:solidFill>
              </a:rPr>
              <a:t>Model Configuration</a:t>
            </a:r>
          </a:p>
          <a:p>
            <a:endParaRPr lang="en-IN" sz="2100" dirty="0">
              <a:solidFill>
                <a:srgbClr val="12304A"/>
              </a:solidFill>
            </a:endParaRPr>
          </a:p>
          <a:p>
            <a:r>
              <a:rPr lang="en-IN" b="1" dirty="0">
                <a:solidFill>
                  <a:srgbClr val="00897B"/>
                </a:solidFill>
              </a:rPr>
              <a:t>Input</a:t>
            </a:r>
            <a:r>
              <a:rPr lang="en-IN" sz="1500" dirty="0">
                <a:solidFill>
                  <a:srgbClr val="00897B"/>
                </a:solidFill>
              </a:rPr>
              <a:t> : Cloudy FCC - 256 × 256 × 3</a:t>
            </a:r>
          </a:p>
          <a:p>
            <a:r>
              <a:rPr lang="en-IN" b="1" dirty="0">
                <a:solidFill>
                  <a:srgbClr val="00897B"/>
                </a:solidFill>
              </a:rPr>
              <a:t>Encoder</a:t>
            </a:r>
            <a:r>
              <a:rPr lang="en-IN" dirty="0">
                <a:solidFill>
                  <a:srgbClr val="00897B"/>
                </a:solidFill>
              </a:rPr>
              <a:t> : </a:t>
            </a:r>
            <a:r>
              <a:rPr lang="en-IN" sz="1500" dirty="0">
                <a:solidFill>
                  <a:srgbClr val="00897B"/>
                </a:solidFill>
              </a:rPr>
              <a:t>3 → 64 → 128 → 256 → 512</a:t>
            </a:r>
          </a:p>
          <a:p>
            <a:r>
              <a:rPr lang="en-IN" b="1" dirty="0">
                <a:solidFill>
                  <a:srgbClr val="00897B"/>
                </a:solidFill>
              </a:rPr>
              <a:t>Bottleneck </a:t>
            </a:r>
            <a:r>
              <a:rPr lang="en-IN" dirty="0">
                <a:solidFill>
                  <a:srgbClr val="00897B"/>
                </a:solidFill>
              </a:rPr>
              <a:t>: </a:t>
            </a:r>
            <a:r>
              <a:rPr lang="en-IN" sz="1500" dirty="0">
                <a:solidFill>
                  <a:srgbClr val="00897B"/>
                </a:solidFill>
              </a:rPr>
              <a:t>512 → 512</a:t>
            </a:r>
          </a:p>
          <a:p>
            <a:r>
              <a:rPr lang="en-IN" b="1" dirty="0">
                <a:solidFill>
                  <a:srgbClr val="00897B"/>
                </a:solidFill>
              </a:rPr>
              <a:t>Decoder </a:t>
            </a:r>
            <a:r>
              <a:rPr lang="en-IN" dirty="0">
                <a:solidFill>
                  <a:srgbClr val="00897B"/>
                </a:solidFill>
              </a:rPr>
              <a:t>: </a:t>
            </a:r>
            <a:r>
              <a:rPr lang="en-IN" sz="1500" dirty="0" err="1">
                <a:solidFill>
                  <a:srgbClr val="00897B"/>
                </a:solidFill>
              </a:rPr>
              <a:t>Upsampling</a:t>
            </a:r>
            <a:r>
              <a:rPr lang="en-IN" sz="1500" dirty="0">
                <a:solidFill>
                  <a:srgbClr val="00897B"/>
                </a:solidFill>
              </a:rPr>
              <a:t> + Skip Connections</a:t>
            </a:r>
          </a:p>
          <a:p>
            <a:r>
              <a:rPr lang="en-IN" b="1" dirty="0">
                <a:solidFill>
                  <a:srgbClr val="00897B"/>
                </a:solidFill>
              </a:rPr>
              <a:t>Output </a:t>
            </a:r>
            <a:r>
              <a:rPr lang="en-IN" dirty="0">
                <a:solidFill>
                  <a:srgbClr val="00897B"/>
                </a:solidFill>
              </a:rPr>
              <a:t>:</a:t>
            </a:r>
            <a:r>
              <a:rPr lang="en-IN" sz="1500" dirty="0">
                <a:solidFill>
                  <a:srgbClr val="00897B"/>
                </a:solidFill>
              </a:rPr>
              <a:t>Reconstructed Clear FCC</a:t>
            </a:r>
          </a:p>
          <a:p>
            <a:r>
              <a:rPr lang="en-IN" sz="1500" dirty="0">
                <a:solidFill>
                  <a:srgbClr val="00897B"/>
                </a:solidFill>
              </a:rPr>
              <a:t>256 × 256 × 3	</a:t>
            </a:r>
          </a:p>
          <a:p>
            <a:endParaRPr lang="en-IN" sz="2100" dirty="0">
              <a:solidFill>
                <a:srgbClr val="12304A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758BEF8-64F4-5DD5-AEBA-067F0A7A2F2E}"/>
              </a:ext>
            </a:extLst>
          </p:cNvPr>
          <p:cNvSpPr/>
          <p:nvPr/>
        </p:nvSpPr>
        <p:spPr>
          <a:xfrm>
            <a:off x="265176" y="5047488"/>
            <a:ext cx="11548872" cy="1541030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12304A"/>
                </a:solidFill>
              </a:rPr>
              <a:t>Training Configuration | L1 Loss | Adam | Learning Rate: 2 × 10⁻⁴ | 5 Epochs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09BE380-7DA9-80C2-C389-7BA3DECDD9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157" y="854257"/>
            <a:ext cx="7252920" cy="3626460"/>
          </a:xfrm>
          <a:prstGeom prst="rect">
            <a:avLst/>
          </a:prstGeom>
        </p:spPr>
      </p:pic>
      <p:pic>
        <p:nvPicPr>
          <p:cNvPr id="5" name="Picture 4" descr="IIITN Logo">
            <a:extLst>
              <a:ext uri="{FF2B5EF4-FFF2-40B4-BE49-F238E27FC236}">
                <a16:creationId xmlns:a16="http://schemas.microsoft.com/office/drawing/2014/main" id="{E1B76B65-D6AA-C925-0B19-3B28FF8E1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795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61A68-12D6-056E-FB53-020D4E72B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6B59BB0-7DDF-6FB2-810E-82640D898063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1624B52-CFE9-D94A-7F2B-36BCC464FE7A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FF1FF-D431-DD53-E195-8F85EF70E43C}"/>
              </a:ext>
            </a:extLst>
          </p:cNvPr>
          <p:cNvSpPr txBox="1"/>
          <p:nvPr/>
        </p:nvSpPr>
        <p:spPr>
          <a:xfrm>
            <a:off x="177105" y="269482"/>
            <a:ext cx="71871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Evaluation Metrics &amp; Baseline Results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8D52193-C251-719F-64CA-A1730F885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014403"/>
              </p:ext>
            </p:extLst>
          </p:nvPr>
        </p:nvGraphicFramePr>
        <p:xfrm>
          <a:off x="270144" y="1271355"/>
          <a:ext cx="6031104" cy="3703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0368">
                  <a:extLst>
                    <a:ext uri="{9D8B030D-6E8A-4147-A177-3AD203B41FA5}">
                      <a16:colId xmlns:a16="http://schemas.microsoft.com/office/drawing/2014/main" val="2625621008"/>
                    </a:ext>
                  </a:extLst>
                </a:gridCol>
                <a:gridCol w="2010368">
                  <a:extLst>
                    <a:ext uri="{9D8B030D-6E8A-4147-A177-3AD203B41FA5}">
                      <a16:colId xmlns:a16="http://schemas.microsoft.com/office/drawing/2014/main" val="3648576926"/>
                    </a:ext>
                  </a:extLst>
                </a:gridCol>
                <a:gridCol w="2010368">
                  <a:extLst>
                    <a:ext uri="{9D8B030D-6E8A-4147-A177-3AD203B41FA5}">
                      <a16:colId xmlns:a16="http://schemas.microsoft.com/office/drawing/2014/main" val="4115849472"/>
                    </a:ext>
                  </a:extLst>
                </a:gridCol>
              </a:tblGrid>
              <a:tr h="2875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solidFill>
                            <a:srgbClr val="333333"/>
                          </a:solidFill>
                        </a:rPr>
                        <a:t>Meaning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Goal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438403"/>
                  </a:ext>
                </a:extLst>
              </a:tr>
              <a:tr h="503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MAE</a:t>
                      </a:r>
                      <a:endParaRPr lang="en-IN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Absolute pixel difference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551366"/>
                  </a:ext>
                </a:extLst>
              </a:tr>
              <a:tr h="718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RMSE</a:t>
                      </a:r>
                      <a:endParaRPr lang="en-IN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Squared reconstruction error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666492"/>
                  </a:ext>
                </a:extLst>
              </a:tr>
              <a:tr h="503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PSNR</a:t>
                      </a:r>
                      <a:endParaRPr lang="en-IN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Reconstruction quality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7809947"/>
                  </a:ext>
                </a:extLst>
              </a:tr>
              <a:tr h="503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SSIM</a:t>
                      </a:r>
                      <a:endParaRPr lang="en-IN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Structural similarity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↑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466390"/>
                  </a:ext>
                </a:extLst>
              </a:tr>
              <a:tr h="503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SAM</a:t>
                      </a:r>
                      <a:endParaRPr lang="en-IN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Spectral similarity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0147192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7DBDF24-0CE5-8CD2-9A95-596E53D29A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1651062"/>
              </p:ext>
            </p:extLst>
          </p:nvPr>
        </p:nvGraphicFramePr>
        <p:xfrm>
          <a:off x="6769929" y="1271354"/>
          <a:ext cx="3965128" cy="35168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564">
                  <a:extLst>
                    <a:ext uri="{9D8B030D-6E8A-4147-A177-3AD203B41FA5}">
                      <a16:colId xmlns:a16="http://schemas.microsoft.com/office/drawing/2014/main" val="795712956"/>
                    </a:ext>
                  </a:extLst>
                </a:gridCol>
                <a:gridCol w="1982564">
                  <a:extLst>
                    <a:ext uri="{9D8B030D-6E8A-4147-A177-3AD203B41FA5}">
                      <a16:colId xmlns:a16="http://schemas.microsoft.com/office/drawing/2014/main" val="2936613319"/>
                    </a:ext>
                  </a:extLst>
                </a:gridCol>
              </a:tblGrid>
              <a:tr h="5587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dirty="0">
                          <a:solidFill>
                            <a:srgbClr val="333333"/>
                          </a:solidFill>
                        </a:rPr>
                        <a:t>Result</a:t>
                      </a:r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5096511"/>
                  </a:ext>
                </a:extLst>
              </a:tr>
              <a:tr h="59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MAE ↓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/>
                        <a:t>0.043772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5668405"/>
                  </a:ext>
                </a:extLst>
              </a:tr>
              <a:tr h="59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RMSE ↓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/>
                        <a:t>0.067446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888220"/>
                  </a:ext>
                </a:extLst>
              </a:tr>
              <a:tr h="59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PSNR ↑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/>
                        <a:t>23.4209 dB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418170"/>
                  </a:ext>
                </a:extLst>
              </a:tr>
              <a:tr h="59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SSIM ↑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/>
                        <a:t>0.808675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1460946"/>
                  </a:ext>
                </a:extLst>
              </a:tr>
              <a:tr h="5916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SAM ↓</a:t>
                      </a:r>
                      <a:endParaRPr lang="en-IN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dirty="0"/>
                        <a:t>9.9696°</a:t>
                      </a:r>
                      <a:endParaRPr lang="en-IN" dirty="0"/>
                    </a:p>
                  </a:txBody>
                  <a:tcPr anchor="ctr">
                    <a:solidFill>
                      <a:srgbClr val="E8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20059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A9DED8B-629F-9309-880E-44555D66CB7D}"/>
              </a:ext>
            </a:extLst>
          </p:cNvPr>
          <p:cNvSpPr txBox="1"/>
          <p:nvPr/>
        </p:nvSpPr>
        <p:spPr>
          <a:xfrm>
            <a:off x="177104" y="855858"/>
            <a:ext cx="455595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>
                <a:solidFill>
                  <a:srgbClr val="12304A"/>
                </a:solidFill>
              </a:rPr>
              <a:t>Evaluation Metrices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52DC6D-AB48-5FE2-EC7F-621B55212AD4}"/>
              </a:ext>
            </a:extLst>
          </p:cNvPr>
          <p:cNvSpPr txBox="1"/>
          <p:nvPr/>
        </p:nvSpPr>
        <p:spPr>
          <a:xfrm>
            <a:off x="6769929" y="890371"/>
            <a:ext cx="4074695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100" b="1" dirty="0">
                <a:solidFill>
                  <a:srgbClr val="12304A"/>
                </a:solidFill>
              </a:rPr>
              <a:t>U-Net Baseline Results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86E615B-39E9-F85D-691E-23A3F03344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249" y="5384991"/>
            <a:ext cx="1314448" cy="13382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93B288-92EA-B4BA-7F42-1543EEDD7F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248" y="5397576"/>
            <a:ext cx="1314000" cy="13256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2C722E3-7292-BDF1-2900-1E283537B5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493" y="5432989"/>
            <a:ext cx="1296000" cy="129024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712E6F-94CC-44AA-D0C8-C7DFB548316C}"/>
              </a:ext>
            </a:extLst>
          </p:cNvPr>
          <p:cNvSpPr txBox="1"/>
          <p:nvPr/>
        </p:nvSpPr>
        <p:spPr>
          <a:xfrm>
            <a:off x="2433709" y="5061826"/>
            <a:ext cx="15179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solidFill>
                  <a:srgbClr val="000435"/>
                </a:solidFill>
              </a:rPr>
              <a:t>Cloudy Input</a:t>
            </a:r>
            <a:endParaRPr lang="en-IN" sz="1500" b="1" dirty="0">
              <a:solidFill>
                <a:srgbClr val="000435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F588842-5B40-E26D-AEB3-00956F75924A}"/>
              </a:ext>
            </a:extLst>
          </p:cNvPr>
          <p:cNvSpPr txBox="1"/>
          <p:nvPr/>
        </p:nvSpPr>
        <p:spPr>
          <a:xfrm>
            <a:off x="4905957" y="5109824"/>
            <a:ext cx="15179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solidFill>
                  <a:srgbClr val="000435"/>
                </a:solidFill>
              </a:rPr>
              <a:t>U-Net Output</a:t>
            </a:r>
            <a:endParaRPr lang="en-IN" sz="1500" b="1" dirty="0">
              <a:solidFill>
                <a:srgbClr val="000435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BD9638-C9EA-5E27-8710-0FB903747488}"/>
              </a:ext>
            </a:extLst>
          </p:cNvPr>
          <p:cNvSpPr txBox="1"/>
          <p:nvPr/>
        </p:nvSpPr>
        <p:spPr>
          <a:xfrm>
            <a:off x="7364289" y="5118802"/>
            <a:ext cx="15179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solidFill>
                  <a:srgbClr val="000435"/>
                </a:solidFill>
              </a:rPr>
              <a:t>Ground Truth</a:t>
            </a:r>
            <a:endParaRPr lang="en-IN" sz="1500" b="1" dirty="0">
              <a:solidFill>
                <a:srgbClr val="000435"/>
              </a:solidFill>
            </a:endParaRP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A94DAB5D-3735-F613-E19B-6709FA521251}"/>
              </a:ext>
            </a:extLst>
          </p:cNvPr>
          <p:cNvSpPr/>
          <p:nvPr/>
        </p:nvSpPr>
        <p:spPr>
          <a:xfrm>
            <a:off x="3951613" y="5861304"/>
            <a:ext cx="693539" cy="251165"/>
          </a:xfrm>
          <a:prstGeom prst="rightArrow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56F3EC0F-61EB-C2C4-27BC-909CC46342B1}"/>
              </a:ext>
            </a:extLst>
          </p:cNvPr>
          <p:cNvSpPr/>
          <p:nvPr/>
        </p:nvSpPr>
        <p:spPr>
          <a:xfrm>
            <a:off x="6532101" y="5914160"/>
            <a:ext cx="693539" cy="251165"/>
          </a:xfrm>
          <a:prstGeom prst="rightArrow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9" name="Picture 28" descr="IIITN Logo">
            <a:extLst>
              <a:ext uri="{FF2B5EF4-FFF2-40B4-BE49-F238E27FC236}">
                <a16:creationId xmlns:a16="http://schemas.microsoft.com/office/drawing/2014/main" id="{8A03710B-302B-A0AD-AA37-0F91CC8B37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128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463E-42EA-B12C-6193-F08EDDA1C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1A66445-0979-E2BA-51A0-B198DCD915C0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227A12-3FDC-185A-5D03-3644C8474323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C63CC2-DEB7-8B12-AB0C-57F0284F6EE6}"/>
              </a:ext>
            </a:extLst>
          </p:cNvPr>
          <p:cNvSpPr txBox="1"/>
          <p:nvPr/>
        </p:nvSpPr>
        <p:spPr>
          <a:xfrm>
            <a:off x="177104" y="269482"/>
            <a:ext cx="92235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Baseline Analysis, Limitations &amp; Future Scope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AAA8CF-0888-5F3A-F840-E2A2A2711BE0}"/>
              </a:ext>
            </a:extLst>
          </p:cNvPr>
          <p:cNvSpPr/>
          <p:nvPr/>
        </p:nvSpPr>
        <p:spPr>
          <a:xfrm>
            <a:off x="177103" y="964375"/>
            <a:ext cx="5918896" cy="3616455"/>
          </a:xfrm>
          <a:prstGeom prst="roundRect">
            <a:avLst/>
          </a:prstGeom>
          <a:solidFill>
            <a:srgbClr val="EAF3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N" sz="2100" b="1" dirty="0">
              <a:solidFill>
                <a:srgbClr val="000435"/>
              </a:solidFill>
            </a:endParaRPr>
          </a:p>
          <a:p>
            <a:r>
              <a:rPr lang="en-IN" sz="2100" b="1" dirty="0">
                <a:solidFill>
                  <a:srgbClr val="000435"/>
                </a:solidFill>
              </a:rPr>
              <a:t>Baseline Analysis</a:t>
            </a:r>
            <a:endParaRPr lang="en-IN" sz="2100" dirty="0">
              <a:solidFill>
                <a:srgbClr val="000435"/>
              </a:solidFill>
            </a:endParaRPr>
          </a:p>
          <a:p>
            <a:r>
              <a:rPr lang="en-IN" b="1" dirty="0">
                <a:solidFill>
                  <a:srgbClr val="333333"/>
                </a:solidFill>
              </a:rPr>
              <a:t>What worked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U-Net learned cloudy-to-clear reconstruction.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rgbClr val="333333"/>
                </a:solidFill>
              </a:rPr>
              <a:t>SSIM: 0.8087</a:t>
            </a:r>
            <a:r>
              <a:rPr lang="en-IN" dirty="0">
                <a:solidFill>
                  <a:srgbClr val="333333"/>
                </a:solidFill>
              </a:rPr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Cloud appearance was reduced.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General scene structure was reconstructed. </a:t>
            </a:r>
          </a:p>
          <a:p>
            <a:r>
              <a:rPr lang="en-IN" b="1" dirty="0">
                <a:solidFill>
                  <a:srgbClr val="333333"/>
                </a:solidFill>
              </a:rPr>
              <a:t>Limitations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Output is noticeably smoother than the ground truth.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Fine spatial details are lost.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Spectral variation is not fully recovered.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rgbClr val="333333"/>
                </a:solidFill>
              </a:rPr>
              <a:t>Radiometric distribution is not reproduced perfectly.</a:t>
            </a:r>
          </a:p>
          <a:p>
            <a:pPr algn="ctr"/>
            <a:endParaRPr lang="en-IN" sz="2100" dirty="0">
              <a:solidFill>
                <a:srgbClr val="000435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7623689-70BC-24F3-D04F-FC756A6AF43F}"/>
              </a:ext>
            </a:extLst>
          </p:cNvPr>
          <p:cNvSpPr/>
          <p:nvPr/>
        </p:nvSpPr>
        <p:spPr>
          <a:xfrm>
            <a:off x="6550153" y="1152855"/>
            <a:ext cx="5464743" cy="3317857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400" b="1" dirty="0">
                <a:solidFill>
                  <a:srgbClr val="000435"/>
                </a:solidFill>
              </a:rPr>
              <a:t>Future Scope</a:t>
            </a:r>
          </a:p>
          <a:p>
            <a:endParaRPr lang="en-IN" sz="2400" b="1" dirty="0">
              <a:solidFill>
                <a:srgbClr val="000435"/>
              </a:solidFill>
            </a:endParaRPr>
          </a:p>
          <a:p>
            <a:pPr algn="ctr"/>
            <a:r>
              <a:rPr lang="en-IN" sz="1500" b="1" dirty="0">
                <a:solidFill>
                  <a:srgbClr val="333333"/>
                </a:solidFill>
              </a:rPr>
              <a:t>Stage 1 — U-Net + L1</a:t>
            </a:r>
            <a:br>
              <a:rPr lang="en-IN" sz="1500" dirty="0">
                <a:solidFill>
                  <a:srgbClr val="333333"/>
                </a:solidFill>
              </a:rPr>
            </a:br>
            <a:r>
              <a:rPr lang="en-IN" sz="1500" dirty="0">
                <a:solidFill>
                  <a:srgbClr val="333333"/>
                </a:solidFill>
              </a:rPr>
              <a:t>✓ Completed</a:t>
            </a:r>
          </a:p>
          <a:p>
            <a:pPr algn="ctr"/>
            <a:r>
              <a:rPr lang="en-IN" sz="1500" dirty="0">
                <a:solidFill>
                  <a:srgbClr val="333333"/>
                </a:solidFill>
              </a:rPr>
              <a:t>↓</a:t>
            </a:r>
          </a:p>
          <a:p>
            <a:pPr algn="ctr"/>
            <a:r>
              <a:rPr lang="en-IN" sz="1500" b="1" dirty="0">
                <a:solidFill>
                  <a:srgbClr val="333333"/>
                </a:solidFill>
              </a:rPr>
              <a:t>Stage 2 — Stronger Image-to-Image Model</a:t>
            </a:r>
            <a:endParaRPr lang="en-IN" sz="1500" dirty="0">
              <a:solidFill>
                <a:srgbClr val="333333"/>
              </a:solidFill>
            </a:endParaRPr>
          </a:p>
          <a:p>
            <a:pPr algn="ctr"/>
            <a:r>
              <a:rPr lang="en-IN" sz="1500" dirty="0">
                <a:solidFill>
                  <a:srgbClr val="333333"/>
                </a:solidFill>
              </a:rPr>
              <a:t>↓</a:t>
            </a:r>
          </a:p>
          <a:p>
            <a:pPr algn="ctr"/>
            <a:r>
              <a:rPr lang="en-IN" sz="1500" b="1" dirty="0">
                <a:solidFill>
                  <a:srgbClr val="333333"/>
                </a:solidFill>
              </a:rPr>
              <a:t>Stage 3 — U-Net + </a:t>
            </a:r>
            <a:r>
              <a:rPr lang="en-IN" sz="1500" b="1" dirty="0" err="1">
                <a:solidFill>
                  <a:srgbClr val="333333"/>
                </a:solidFill>
              </a:rPr>
              <a:t>PatchGAN</a:t>
            </a:r>
            <a:endParaRPr lang="en-IN" sz="1500" dirty="0">
              <a:solidFill>
                <a:srgbClr val="333333"/>
              </a:solidFill>
            </a:endParaRPr>
          </a:p>
          <a:p>
            <a:pPr algn="ctr"/>
            <a:r>
              <a:rPr lang="en-IN" sz="1500" dirty="0">
                <a:solidFill>
                  <a:srgbClr val="333333"/>
                </a:solidFill>
              </a:rPr>
              <a:t>↓</a:t>
            </a:r>
          </a:p>
          <a:p>
            <a:pPr algn="ctr"/>
            <a:r>
              <a:rPr lang="en-IN" sz="1500" b="1" dirty="0">
                <a:solidFill>
                  <a:srgbClr val="333333"/>
                </a:solidFill>
              </a:rPr>
              <a:t>Final Comparison</a:t>
            </a:r>
            <a:br>
              <a:rPr lang="en-IN" sz="1500" dirty="0">
                <a:solidFill>
                  <a:srgbClr val="333333"/>
                </a:solidFill>
              </a:rPr>
            </a:br>
            <a:r>
              <a:rPr lang="en-IN" sz="1500" dirty="0">
                <a:solidFill>
                  <a:srgbClr val="333333"/>
                </a:solidFill>
              </a:rPr>
              <a:t>MAE | RMSE | PSNR | SSIM | SAM</a:t>
            </a:r>
          </a:p>
          <a:p>
            <a:pPr algn="ctr"/>
            <a:endParaRPr lang="en-IN" sz="2100" dirty="0">
              <a:solidFill>
                <a:srgbClr val="000435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B3E2D3E-3882-0C13-AF18-DAB8F5A92F49}"/>
              </a:ext>
            </a:extLst>
          </p:cNvPr>
          <p:cNvSpPr/>
          <p:nvPr/>
        </p:nvSpPr>
        <p:spPr>
          <a:xfrm>
            <a:off x="271431" y="4820622"/>
            <a:ext cx="11649137" cy="1817921"/>
          </a:xfrm>
          <a:prstGeom prst="roundRect">
            <a:avLst/>
          </a:prstGeom>
          <a:solidFill>
            <a:srgbClr val="E8F5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IN" sz="2000" b="1" dirty="0">
                <a:solidFill>
                  <a:srgbClr val="00897B"/>
                </a:solidFill>
              </a:rPr>
              <a:t>Goal Box</a:t>
            </a:r>
          </a:p>
          <a:p>
            <a:endParaRPr lang="en-IN" sz="2000" b="1" dirty="0">
              <a:solidFill>
                <a:srgbClr val="00897B"/>
              </a:solidFill>
            </a:endParaRPr>
          </a:p>
          <a:p>
            <a:r>
              <a:rPr lang="en-IN" sz="2000" dirty="0">
                <a:solidFill>
                  <a:srgbClr val="333333"/>
                </a:solidFill>
              </a:rPr>
              <a:t>Improve spatial detail and spectral fidelity while maintaining or improving quantitative reconstruction performance.</a:t>
            </a:r>
            <a:endParaRPr lang="en-IN" sz="2000" b="1" dirty="0">
              <a:solidFill>
                <a:srgbClr val="333333"/>
              </a:solidFill>
            </a:endParaRPr>
          </a:p>
        </p:txBody>
      </p:sp>
      <p:pic>
        <p:nvPicPr>
          <p:cNvPr id="16" name="Picture 15" descr="IIITN Logo">
            <a:extLst>
              <a:ext uri="{FF2B5EF4-FFF2-40B4-BE49-F238E27FC236}">
                <a16:creationId xmlns:a16="http://schemas.microsoft.com/office/drawing/2014/main" id="{B1982501-76FB-F05D-4E05-D2C655731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94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E2A75-0AED-42FF-76C1-FFD39B971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803FB7-99A7-564B-A64C-0F4BE56A532A}"/>
              </a:ext>
            </a:extLst>
          </p:cNvPr>
          <p:cNvSpPr/>
          <p:nvPr/>
        </p:nvSpPr>
        <p:spPr>
          <a:xfrm>
            <a:off x="0" y="0"/>
            <a:ext cx="12192000" cy="108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8C07CDD-6A14-01E4-717C-D13516DF8ECE}"/>
              </a:ext>
            </a:extLst>
          </p:cNvPr>
          <p:cNvSpPr/>
          <p:nvPr/>
        </p:nvSpPr>
        <p:spPr>
          <a:xfrm>
            <a:off x="0" y="6786000"/>
            <a:ext cx="12192000" cy="72000"/>
          </a:xfrm>
          <a:prstGeom prst="rect">
            <a:avLst/>
          </a:prstGeom>
          <a:solidFill>
            <a:srgbClr val="12304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CBBF7F-A8E3-E945-0B45-64A659B6D7A3}"/>
              </a:ext>
            </a:extLst>
          </p:cNvPr>
          <p:cNvSpPr txBox="1"/>
          <p:nvPr/>
        </p:nvSpPr>
        <p:spPr>
          <a:xfrm>
            <a:off x="177104" y="269482"/>
            <a:ext cx="92235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solidFill>
                  <a:srgbClr val="12304A"/>
                </a:solidFill>
              </a:rPr>
              <a:t>References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ABD25-CB2E-20D7-3CFD-CF2A34E63929}"/>
              </a:ext>
            </a:extLst>
          </p:cNvPr>
          <p:cNvSpPr txBox="1"/>
          <p:nvPr/>
        </p:nvSpPr>
        <p:spPr>
          <a:xfrm>
            <a:off x="385011" y="1106905"/>
            <a:ext cx="1138989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r>
              <a:rPr lang="en-IN" sz="2000" b="1" dirty="0"/>
              <a:t>[1]</a:t>
            </a:r>
            <a:r>
              <a:rPr lang="en-IN" sz="2000" dirty="0"/>
              <a:t> </a:t>
            </a:r>
            <a:r>
              <a:rPr lang="en-IN" sz="2000" dirty="0" err="1"/>
              <a:t>Meraner</a:t>
            </a:r>
            <a:r>
              <a:rPr lang="en-IN" sz="2000" dirty="0"/>
              <a:t>, A., Ebel, P., Schmitt, M., &amp; Zhu, X. X. (2020). </a:t>
            </a:r>
            <a:r>
              <a:rPr lang="en-IN" sz="2000" i="1" dirty="0"/>
              <a:t>Cloud removal in Sentinel-2 imagery using a deep residual neural network and SAR-optical data fusion.</a:t>
            </a:r>
            <a:r>
              <a:rPr lang="en-IN" sz="2000" dirty="0"/>
              <a:t> ISPRS Journal of Photogrammetry and Remote Sensing.</a:t>
            </a:r>
          </a:p>
          <a:p>
            <a:r>
              <a:rPr lang="en-IN" sz="2000" b="1" dirty="0"/>
              <a:t>[2]</a:t>
            </a:r>
            <a:r>
              <a:rPr lang="en-IN" sz="2000" dirty="0"/>
              <a:t> Li, Y., et al. (2020). </a:t>
            </a:r>
            <a:r>
              <a:rPr lang="en-IN" sz="2000" i="1" dirty="0"/>
              <a:t>Thin cloud removal in optical remote sensing images based on generative adversarial networks and physical model of cloud distortion.</a:t>
            </a:r>
            <a:endParaRPr lang="en-IN" sz="2000" dirty="0"/>
          </a:p>
          <a:p>
            <a:r>
              <a:rPr lang="en-IN" sz="2000" b="1" dirty="0"/>
              <a:t>[3]</a:t>
            </a:r>
            <a:r>
              <a:rPr lang="en-IN" sz="2000" dirty="0"/>
              <a:t> Zhou, X., et al. (2024). </a:t>
            </a:r>
            <a:r>
              <a:rPr lang="en-IN" sz="2000" i="1" dirty="0" err="1"/>
              <a:t>AllClear</a:t>
            </a:r>
            <a:r>
              <a:rPr lang="en-IN" sz="2000" i="1" dirty="0"/>
              <a:t>: A Comprehensive Dataset and Benchmark for Cloud Removal in Satellite Imagery.</a:t>
            </a:r>
            <a:r>
              <a:rPr lang="en-IN" sz="2000" dirty="0"/>
              <a:t> </a:t>
            </a:r>
            <a:r>
              <a:rPr lang="en-IN" sz="2000" dirty="0" err="1"/>
              <a:t>NeurIPS</a:t>
            </a:r>
            <a:r>
              <a:rPr lang="en-IN" sz="2000" dirty="0"/>
              <a:t> 2024.</a:t>
            </a:r>
          </a:p>
          <a:p>
            <a:r>
              <a:rPr lang="en-IN" sz="2000" b="1" dirty="0"/>
              <a:t>[4]</a:t>
            </a:r>
            <a:r>
              <a:rPr lang="en-IN" sz="2000" dirty="0"/>
              <a:t> </a:t>
            </a:r>
            <a:r>
              <a:rPr lang="en-IN" sz="2000" dirty="0" err="1"/>
              <a:t>Ronneberger</a:t>
            </a:r>
            <a:r>
              <a:rPr lang="en-IN" sz="2000" dirty="0"/>
              <a:t>, O., Fischer, P., &amp; Brox, T. (2015). </a:t>
            </a:r>
            <a:r>
              <a:rPr lang="en-IN" sz="2000" i="1" dirty="0"/>
              <a:t>U-Net: Convolutional Networks for Biomedical Image Segmentation.</a:t>
            </a:r>
            <a:r>
              <a:rPr lang="en-IN" sz="2000" dirty="0"/>
              <a:t> MICCAI.</a:t>
            </a:r>
          </a:p>
          <a:p>
            <a:r>
              <a:rPr lang="en-IN" sz="2000" b="1" dirty="0"/>
              <a:t>[5]</a:t>
            </a:r>
            <a:r>
              <a:rPr lang="en-IN" sz="2000" dirty="0"/>
              <a:t> ISRO. </a:t>
            </a:r>
            <a:r>
              <a:rPr lang="en-IN" sz="2000" i="1" dirty="0"/>
              <a:t>Resourcesat-2/2A and LISS-IV sensor/product documentation.</a:t>
            </a:r>
            <a:endParaRPr lang="en-IN" sz="2000" dirty="0"/>
          </a:p>
          <a:p>
            <a:r>
              <a:rPr lang="en-IN" sz="2000" b="1" dirty="0"/>
              <a:t>[6]</a:t>
            </a:r>
            <a:r>
              <a:rPr lang="en-IN" sz="2000" dirty="0"/>
              <a:t> ESA. </a:t>
            </a:r>
            <a:r>
              <a:rPr lang="en-IN" sz="2000" i="1" dirty="0"/>
              <a:t>Copernicus Sentinel-2 Mission and Multispectral Instrument documentation.</a:t>
            </a:r>
            <a:endParaRPr lang="en-IN" sz="2000" dirty="0"/>
          </a:p>
          <a:p>
            <a:endParaRPr lang="en-IN" dirty="0"/>
          </a:p>
        </p:txBody>
      </p:sp>
      <p:pic>
        <p:nvPicPr>
          <p:cNvPr id="8" name="Picture 7" descr="IIITN Logo">
            <a:extLst>
              <a:ext uri="{FF2B5EF4-FFF2-40B4-BE49-F238E27FC236}">
                <a16:creationId xmlns:a16="http://schemas.microsoft.com/office/drawing/2014/main" id="{459DC649-0998-F4FD-CE73-055ADC34E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822" y="183667"/>
            <a:ext cx="730758" cy="73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093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750</Words>
  <Application>Microsoft Office PowerPoint</Application>
  <PresentationFormat>Widescreen</PresentationFormat>
  <Paragraphs>174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Baindla Mouryagna</dc:creator>
  <cp:lastModifiedBy>Baindla Mouryagna</cp:lastModifiedBy>
  <cp:revision>3</cp:revision>
  <dcterms:created xsi:type="dcterms:W3CDTF">2026-09-15T17:26:52Z</dcterms:created>
  <dcterms:modified xsi:type="dcterms:W3CDTF">2026-09-16T04:32:22Z</dcterms:modified>
</cp:coreProperties>
</file>