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12304A"/>
    <a:srgbClr val="000435"/>
    <a:srgbClr val="E8F5F2"/>
    <a:srgbClr val="EAF3FB"/>
    <a:srgbClr val="00897B"/>
    <a:srgbClr val="DFF2EE"/>
    <a:srgbClr val="404040"/>
    <a:srgbClr val="19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60"/>
  </p:normalViewPr>
  <p:slideViewPr>
    <p:cSldViewPr snapToGrid="0">
      <p:cViewPr varScale="1">
        <p:scale>
          <a:sx n="84" d="100"/>
          <a:sy n="84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D664D-AE16-419C-833B-9C72519B3CE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EDB1D-79EB-44BD-A4CA-78CA539D0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8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EDB1D-79EB-44BD-A4CA-78CA539D067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3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B283-A0D1-DBFF-F0E3-1BD2096AC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64851-479A-6EFE-1900-75295732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D28C9-303C-D77D-83C3-A99F593A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8F9EE-82C4-2093-3FBC-BC7EDC00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F5EB7-829B-CB49-EA84-C5DFBE91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34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1123-5DCD-434B-9CAA-7B4493B2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2F0F-8DAE-65A6-11BD-F2522952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4663A-92DA-908B-7B41-CF59E925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56442-80EA-A30A-3223-4E035FE5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449DB-318A-59BE-902F-1D615F4F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6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F48F-B86B-65FD-55CC-4C329F30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497E7-E31D-4A6D-DA1C-F010FC54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F7A34-CF35-8886-10BD-229DE9A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48634-60D0-B72C-3496-32D7A086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FC97-F95D-2300-E039-65CC7685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3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F583-E85D-CA5D-2411-B64426A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BAE15-B274-E774-56F3-08E4E73FE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7CFAE-D04D-89C7-A53A-9A83E639F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81E9-8F8D-B02A-1E9D-1D76A7ED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B6372-C658-A478-BA8B-C32D53ED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6CCE5-99AD-4A47-1CB9-69884ABD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82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6075-C6C0-79C6-0470-0A993B8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D2E9-222D-4416-43B0-B36602E4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24896-1AE6-108A-89CB-EB76176E4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19E1C-A2EF-BDBC-8E78-F75EB9388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D5DFC-F6F4-0E3A-A1FC-05FA69530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9D477-1A79-3B09-632B-B67B6F82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C1DCB-37AC-8918-B19A-AEBBAC60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6392B-67AD-20AE-4F54-7BB9FAD7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7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E12C-7EE6-BD49-CE3A-A53F07C4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AA413-DB86-0AEF-E214-D36D7111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6BE39-1C69-9105-EA83-21F8AFBD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82528-3B6A-24FB-03DB-DC0F5031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1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2E70B-11A0-08A3-6192-A283A4F5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C295D-196D-8C3F-8785-DB6D03EA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9C1DE-FB9C-AA18-6D26-334ABD7F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6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4E61-0D25-DE05-794D-4EE3A911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F7F38-7CFE-8A9D-FAE2-ED663D43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2DE94-1493-38BA-A8BF-5F4C3B23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7D17F-4605-DBFA-867B-5BFAF613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2C4D1-02A7-B16C-0E23-DCD7B7F5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A2E08-7D4C-3652-59DE-89D7A4AD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9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962E-B2E4-BC86-0E79-618E8420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EB13B-15B3-50C9-05CB-9832C8CCE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4C9A5-72FD-137F-EC35-D4B4B93D5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09FAD-2303-2B00-E141-690EDBB3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091E5-A2D6-6222-41FD-C605DC47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75C0D-1BB3-EFF8-B362-C43AB50D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36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C634-BDE7-6516-D556-0C95FC92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78F4-AC05-6EFC-49B3-0ADECE8F2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3D777-50E8-57E4-2126-CEF4B9BA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47BB5-5A9F-6B22-D92D-FF185C6A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A1145-D61B-920C-3821-7B7E6FDA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42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4C0A6-E56D-9FC2-E779-1CD2C2066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94F00-320F-AF0C-26A2-D5CBEA0C4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5604-9DEA-00B2-4E1C-D3C4C79C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1CDF8-75AC-7CC6-6006-A34A75C8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FA7C8-BE94-BC90-2293-72B97299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50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89727-65BA-3EAD-CD7E-C9AED0C3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34D82-78B2-3759-7502-B8398B98C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D66C-0C33-12D3-52D9-40A25E13C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9735F-C216-446E-A09D-3BEA34043A5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A2665-571C-AA90-7687-F42BE9FEF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19699-C66A-C0B2-5BFD-67E37288E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4A4EC4-C055-4E17-375C-ED21CB9BD240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AA495-E66F-5FC4-E3D2-1B962EDD5B83}"/>
              </a:ext>
            </a:extLst>
          </p:cNvPr>
          <p:cNvSpPr txBox="1"/>
          <p:nvPr/>
        </p:nvSpPr>
        <p:spPr>
          <a:xfrm>
            <a:off x="160420" y="657085"/>
            <a:ext cx="111404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0435"/>
                </a:solidFill>
              </a:rPr>
              <a:t>Generative AI-Based Cloud Removal &amp; Reconstruction for LISS-IV Satellite Imagery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B1F23-D999-25C6-2E42-477951A82C97}"/>
              </a:ext>
            </a:extLst>
          </p:cNvPr>
          <p:cNvSpPr txBox="1"/>
          <p:nvPr/>
        </p:nvSpPr>
        <p:spPr>
          <a:xfrm>
            <a:off x="160420" y="2048256"/>
            <a:ext cx="680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404040"/>
                </a:solidFill>
              </a:rPr>
              <a:t>Using Deep Learning for Image-to-Image Reconstruction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BAC9E-AC47-23A1-E2EC-4708A12BB971}"/>
              </a:ext>
            </a:extLst>
          </p:cNvPr>
          <p:cNvSpPr txBox="1"/>
          <p:nvPr/>
        </p:nvSpPr>
        <p:spPr>
          <a:xfrm>
            <a:off x="246888" y="3108960"/>
            <a:ext cx="8101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</a:t>
            </a:r>
          </a:p>
          <a:p>
            <a:endParaRPr lang="en-IN" dirty="0"/>
          </a:p>
          <a:p>
            <a:r>
              <a:rPr lang="en-IN" dirty="0"/>
              <a:t>Shashank Reddy ,  Mouryagna Baindla, Rishikesh Reddy</a:t>
            </a:r>
          </a:p>
          <a:p>
            <a:r>
              <a:rPr lang="en-IN" dirty="0"/>
              <a:t>BT24CSA014, BT24CSA015, BT24CSA058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E6FAC-A9C0-2266-18C0-BF1C0650D721}"/>
              </a:ext>
            </a:extLst>
          </p:cNvPr>
          <p:cNvSpPr txBox="1"/>
          <p:nvPr/>
        </p:nvSpPr>
        <p:spPr>
          <a:xfrm>
            <a:off x="246888" y="4448097"/>
            <a:ext cx="564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Supervisor: </a:t>
            </a:r>
            <a:r>
              <a:rPr lang="en-IN" dirty="0"/>
              <a:t>Dr. Santosh Kumar Sahu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9B341-B50D-F40B-5204-E25FED2C9F8D}"/>
              </a:ext>
            </a:extLst>
          </p:cNvPr>
          <p:cNvSpPr txBox="1"/>
          <p:nvPr/>
        </p:nvSpPr>
        <p:spPr>
          <a:xfrm>
            <a:off x="246888" y="5011403"/>
            <a:ext cx="475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Department: CSA,</a:t>
            </a:r>
            <a:br>
              <a:rPr lang="en-IN" dirty="0"/>
            </a:br>
            <a:r>
              <a:rPr lang="en-IN" dirty="0"/>
              <a:t>IIIT Nagpur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B0A60E-036C-7A4E-2593-B16A3768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514" y="2125590"/>
            <a:ext cx="2438400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EC0D96-E9F6-6031-DED1-5658747DE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520" y="2125590"/>
            <a:ext cx="2438400" cy="2438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8E9774-26FC-D0CB-B87A-AC8C7DD7F700}"/>
              </a:ext>
            </a:extLst>
          </p:cNvPr>
          <p:cNvSpPr txBox="1"/>
          <p:nvPr/>
        </p:nvSpPr>
        <p:spPr>
          <a:xfrm>
            <a:off x="7322258" y="4786000"/>
            <a:ext cx="2052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12304A"/>
                </a:solidFill>
              </a:rPr>
              <a:t>Cloudy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D5427-7F51-FC8B-37BA-AE42BD98F00E}"/>
              </a:ext>
            </a:extLst>
          </p:cNvPr>
          <p:cNvSpPr txBox="1"/>
          <p:nvPr/>
        </p:nvSpPr>
        <p:spPr>
          <a:xfrm>
            <a:off x="10541908" y="4786000"/>
            <a:ext cx="2052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12304A"/>
                </a:solidFill>
              </a:rPr>
              <a:t>Clear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B3357D-7001-84CB-E225-739060B19759}"/>
              </a:ext>
            </a:extLst>
          </p:cNvPr>
          <p:cNvSpPr/>
          <p:nvPr/>
        </p:nvSpPr>
        <p:spPr>
          <a:xfrm>
            <a:off x="9022801" y="3264181"/>
            <a:ext cx="592831" cy="283464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976D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542A80-662E-E6E9-CDB8-E9A779FC120D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IIITN Logo">
            <a:extLst>
              <a:ext uri="{FF2B5EF4-FFF2-40B4-BE49-F238E27FC236}">
                <a16:creationId xmlns:a16="http://schemas.microsoft.com/office/drawing/2014/main" id="{E8800E59-AC3E-A3CD-9C05-8CDC032B1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6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59F5-BF52-1D12-6C61-560823C4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DFE811-25D5-2FCA-94E4-52DD2F8A48C6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4B396A-58DC-9920-DB4D-878B178090FB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EAA63-123F-FAE9-611C-3F10B86C6EFF}"/>
              </a:ext>
            </a:extLst>
          </p:cNvPr>
          <p:cNvSpPr txBox="1"/>
          <p:nvPr/>
        </p:nvSpPr>
        <p:spPr>
          <a:xfrm>
            <a:off x="177105" y="320040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Problem Statement &amp; Motivation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65FE5-45C4-17BA-9114-7C16934EDF04}"/>
              </a:ext>
            </a:extLst>
          </p:cNvPr>
          <p:cNvSpPr/>
          <p:nvPr/>
        </p:nvSpPr>
        <p:spPr>
          <a:xfrm>
            <a:off x="177104" y="1152855"/>
            <a:ext cx="5464743" cy="331785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100" b="1" dirty="0">
              <a:solidFill>
                <a:srgbClr val="000435"/>
              </a:solidFill>
            </a:endParaRPr>
          </a:p>
          <a:p>
            <a:r>
              <a:rPr lang="en-IN" sz="2100" b="1" dirty="0">
                <a:solidFill>
                  <a:srgbClr val="000435"/>
                </a:solidFill>
              </a:rPr>
              <a:t>The Problem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  <a:p>
            <a:r>
              <a:rPr lang="en-IN" dirty="0">
                <a:solidFill>
                  <a:srgbClr val="333333"/>
                </a:solidFill>
              </a:rPr>
              <a:t>• Clouds obscure the Earth's surface in optical satellite imagery.</a:t>
            </a:r>
          </a:p>
          <a:p>
            <a:r>
              <a:rPr lang="en-IN" dirty="0">
                <a:solidFill>
                  <a:srgbClr val="333333"/>
                </a:solidFill>
              </a:rPr>
              <a:t>• Cloud-covered regions lose important </a:t>
            </a:r>
            <a:r>
              <a:rPr lang="en-IN" b="1" dirty="0">
                <a:solidFill>
                  <a:srgbClr val="00897B"/>
                </a:solidFill>
              </a:rPr>
              <a:t>spatial information</a:t>
            </a:r>
            <a:r>
              <a:rPr lang="en-IN" dirty="0">
                <a:solidFill>
                  <a:srgbClr val="333333"/>
                </a:solidFill>
              </a:rPr>
              <a:t>.</a:t>
            </a:r>
          </a:p>
          <a:p>
            <a:r>
              <a:rPr lang="en-IN" dirty="0">
                <a:solidFill>
                  <a:srgbClr val="333333"/>
                </a:solidFill>
              </a:rPr>
              <a:t>• Cloud contamination affects </a:t>
            </a:r>
            <a:r>
              <a:rPr lang="en-IN" b="1" dirty="0">
                <a:solidFill>
                  <a:srgbClr val="00897B"/>
                </a:solidFill>
              </a:rPr>
              <a:t>spectral information</a:t>
            </a:r>
            <a:r>
              <a:rPr lang="en-IN" dirty="0">
                <a:solidFill>
                  <a:srgbClr val="333333"/>
                </a:solidFill>
              </a:rPr>
              <a:t>.</a:t>
            </a:r>
          </a:p>
          <a:p>
            <a:r>
              <a:rPr lang="en-IN" dirty="0">
                <a:solidFill>
                  <a:srgbClr val="333333"/>
                </a:solidFill>
              </a:rPr>
              <a:t>• This limits reliable analysis of the Earth's surface.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21872C-F0DB-27F6-FCAE-2A1FB221043A}"/>
              </a:ext>
            </a:extLst>
          </p:cNvPr>
          <p:cNvSpPr/>
          <p:nvPr/>
        </p:nvSpPr>
        <p:spPr>
          <a:xfrm>
            <a:off x="6550153" y="1152855"/>
            <a:ext cx="5464743" cy="3317857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Why Cloud Removal?</a:t>
            </a:r>
          </a:p>
          <a:p>
            <a:pPr algn="ctr"/>
            <a:endParaRPr lang="en-IN" sz="2100" b="1" dirty="0">
              <a:solidFill>
                <a:srgbClr val="000435"/>
              </a:solidFill>
            </a:endParaRPr>
          </a:p>
          <a:p>
            <a:r>
              <a:rPr lang="en-IN" dirty="0">
                <a:solidFill>
                  <a:srgbClr val="333333"/>
                </a:solidFill>
              </a:rPr>
              <a:t>• Recover information hidden beneath clouds.</a:t>
            </a:r>
          </a:p>
          <a:p>
            <a:r>
              <a:rPr lang="en-IN" dirty="0">
                <a:solidFill>
                  <a:srgbClr val="333333"/>
                </a:solidFill>
              </a:rPr>
              <a:t>• Improve the usability of optical satellite imagery.</a:t>
            </a:r>
          </a:p>
          <a:p>
            <a:r>
              <a:rPr lang="en-IN" dirty="0">
                <a:solidFill>
                  <a:srgbClr val="333333"/>
                </a:solidFill>
              </a:rPr>
              <a:t>• Preserve both </a:t>
            </a:r>
            <a:r>
              <a:rPr lang="en-IN" b="1" dirty="0">
                <a:solidFill>
                  <a:srgbClr val="00897B"/>
                </a:solidFill>
              </a:rPr>
              <a:t>spatial details</a:t>
            </a:r>
            <a:r>
              <a:rPr lang="en-IN" dirty="0">
                <a:solidFill>
                  <a:srgbClr val="00897B"/>
                </a:solidFill>
              </a:rPr>
              <a:t> </a:t>
            </a:r>
            <a:r>
              <a:rPr lang="en-IN" dirty="0">
                <a:solidFill>
                  <a:srgbClr val="333333"/>
                </a:solidFill>
              </a:rPr>
              <a:t>and </a:t>
            </a:r>
            <a:r>
              <a:rPr lang="en-IN" b="1" dirty="0">
                <a:solidFill>
                  <a:srgbClr val="00897B"/>
                </a:solidFill>
              </a:rPr>
              <a:t>spectral characteristics</a:t>
            </a:r>
            <a:r>
              <a:rPr lang="en-IN" dirty="0">
                <a:solidFill>
                  <a:srgbClr val="00897B"/>
                </a:solidFill>
              </a:rPr>
              <a:t>.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187D4C7-B412-24B8-56C1-0F255B2087B5}"/>
              </a:ext>
            </a:extLst>
          </p:cNvPr>
          <p:cNvSpPr/>
          <p:nvPr/>
        </p:nvSpPr>
        <p:spPr>
          <a:xfrm>
            <a:off x="271431" y="4820622"/>
            <a:ext cx="11649137" cy="1817921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Objective</a:t>
            </a:r>
          </a:p>
          <a:p>
            <a:endParaRPr lang="en-IN" sz="2000" b="1" dirty="0">
              <a:solidFill>
                <a:srgbClr val="00897B"/>
              </a:solidFill>
            </a:endParaRPr>
          </a:p>
          <a:p>
            <a:r>
              <a:rPr lang="en-IN" sz="2000" dirty="0">
                <a:solidFill>
                  <a:srgbClr val="333333"/>
                </a:solidFill>
              </a:rPr>
              <a:t>Reconstruct a cloud-free LISS-IV image from a cloudy observation while preserving </a:t>
            </a:r>
            <a:r>
              <a:rPr lang="en-IN" sz="2000" dirty="0">
                <a:solidFill>
                  <a:srgbClr val="00897B"/>
                </a:solidFill>
              </a:rPr>
              <a:t>spatial details </a:t>
            </a:r>
            <a:r>
              <a:rPr lang="en-IN" sz="2000" dirty="0">
                <a:solidFill>
                  <a:srgbClr val="333333"/>
                </a:solidFill>
              </a:rPr>
              <a:t>and </a:t>
            </a:r>
            <a:r>
              <a:rPr lang="en-IN" sz="2000" dirty="0">
                <a:solidFill>
                  <a:srgbClr val="00897B"/>
                </a:solidFill>
              </a:rPr>
              <a:t>spectral information</a:t>
            </a:r>
            <a:r>
              <a:rPr lang="en-IN" sz="2000" dirty="0">
                <a:solidFill>
                  <a:srgbClr val="333333"/>
                </a:solidFill>
              </a:rPr>
              <a:t>.</a:t>
            </a:r>
            <a:endParaRPr lang="en-IN" sz="2000" b="1" dirty="0">
              <a:solidFill>
                <a:srgbClr val="333333"/>
              </a:solidFill>
            </a:endParaRP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47EC6067-FF58-5A8F-21CD-94C9F88F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3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D840-97C8-557C-88E5-2EA6EB6B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6F2647-3D9E-3A3F-17F3-69A54270C20C}"/>
              </a:ext>
            </a:extLst>
          </p:cNvPr>
          <p:cNvSpPr/>
          <p:nvPr/>
        </p:nvSpPr>
        <p:spPr>
          <a:xfrm>
            <a:off x="273303" y="1061459"/>
            <a:ext cx="5368544" cy="3681759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Existing Research</a:t>
            </a:r>
          </a:p>
          <a:p>
            <a:endParaRPr lang="en-IN" sz="2400" b="1" dirty="0">
              <a:solidFill>
                <a:srgbClr val="000435"/>
              </a:solidFill>
            </a:endParaRPr>
          </a:p>
          <a:p>
            <a:r>
              <a:rPr lang="en-IN" b="1" dirty="0">
                <a:solidFill>
                  <a:srgbClr val="000435"/>
                </a:solidFill>
              </a:rPr>
              <a:t>Commonly used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Sentinel-2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Sentinel-1 + Sentinel-2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Landsat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Multi-sensor datasets</a:t>
            </a:r>
          </a:p>
          <a:p>
            <a:pPr lvl="0"/>
            <a:r>
              <a:rPr lang="en-IN" b="1" dirty="0">
                <a:solidFill>
                  <a:srgbClr val="000435"/>
                </a:solidFill>
              </a:rPr>
              <a:t>Existing Approaches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CNN / Encoder–Decoder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Residual networks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GAN-based reconstruction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SAR–optical fusion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E3122-7593-F43F-6E1C-0786D832B2C8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53A59-8395-BC3E-DF42-0A433DD0A864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3DD97-21B9-EBC1-2CCB-248A885859E8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Existing Solutions &amp; Research Gap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12964A-04B4-6D43-E4D8-F9AC1B0930B1}"/>
              </a:ext>
            </a:extLst>
          </p:cNvPr>
          <p:cNvSpPr/>
          <p:nvPr/>
        </p:nvSpPr>
        <p:spPr>
          <a:xfrm>
            <a:off x="6550155" y="1061459"/>
            <a:ext cx="5368543" cy="3681759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12304A"/>
                </a:solidFill>
              </a:rPr>
              <a:t>Research Gap</a:t>
            </a:r>
          </a:p>
          <a:p>
            <a:endParaRPr lang="en-IN" sz="2100" b="1" dirty="0">
              <a:solidFill>
                <a:srgbClr val="12304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435"/>
                </a:solidFill>
              </a:rPr>
              <a:t>Deep-learning cloud-removal research is strongly represented by Sentinel-2 and multi-sensor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897B"/>
                </a:solidFill>
              </a:rPr>
              <a:t>LISS-IV-specific</a:t>
            </a:r>
            <a:r>
              <a:rPr lang="en-IN" dirty="0">
                <a:solidFill>
                  <a:srgbClr val="000435"/>
                </a:solidFill>
              </a:rPr>
              <a:t> cloud-removal research and benchmark datasets are comparatively less explored.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86FFD6-D8C2-F60F-E8BB-FE580059E0FF}"/>
              </a:ext>
            </a:extLst>
          </p:cNvPr>
          <p:cNvSpPr/>
          <p:nvPr/>
        </p:nvSpPr>
        <p:spPr>
          <a:xfrm>
            <a:off x="177105" y="4950420"/>
            <a:ext cx="11837792" cy="1638098"/>
          </a:xfrm>
          <a:prstGeom prst="roundRect">
            <a:avLst/>
          </a:prstGeom>
          <a:solidFill>
            <a:srgbClr val="DFF2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Our Direction</a:t>
            </a:r>
          </a:p>
          <a:p>
            <a:endParaRPr lang="en-IN" sz="2000" b="1" dirty="0">
              <a:solidFill>
                <a:srgbClr val="00897B"/>
              </a:solidFill>
            </a:endParaRPr>
          </a:p>
          <a:p>
            <a:r>
              <a:rPr lang="en-IN" sz="2000" dirty="0">
                <a:solidFill>
                  <a:srgbClr val="000435"/>
                </a:solidFill>
              </a:rPr>
              <a:t>Develop and evaluate a native </a:t>
            </a:r>
            <a:r>
              <a:rPr lang="en-IN" sz="2000" b="1" dirty="0">
                <a:solidFill>
                  <a:srgbClr val="00897B"/>
                </a:solidFill>
              </a:rPr>
              <a:t>LISS-IV cloud-removal pipeline </a:t>
            </a:r>
            <a:r>
              <a:rPr lang="en-IN" sz="2000" dirty="0">
                <a:solidFill>
                  <a:srgbClr val="000435"/>
                </a:solidFill>
              </a:rPr>
              <a:t>using paired cloudy and cloud-free imagery.</a:t>
            </a:r>
            <a:endParaRPr lang="en-IN" sz="2000" b="1" dirty="0">
              <a:solidFill>
                <a:srgbClr val="000435"/>
              </a:solidFill>
            </a:endParaRP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28B93214-F8BA-43D5-1F3C-DEA06094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0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C1F0-8EFC-1BAA-3A94-21C35327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D62C34-6E7E-E811-74C9-50271086DBDA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127518-80F3-9959-8446-E18C58D88CDB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4C52C-A5D4-C860-CB1C-6D6E8E0AE326}"/>
              </a:ext>
            </a:extLst>
          </p:cNvPr>
          <p:cNvSpPr txBox="1"/>
          <p:nvPr/>
        </p:nvSpPr>
        <p:spPr>
          <a:xfrm>
            <a:off x="270870" y="248653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Why LISS-IV?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9F2D54-D46C-A562-EA3D-886F3A935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166827"/>
              </p:ext>
            </p:extLst>
          </p:nvPr>
        </p:nvGraphicFramePr>
        <p:xfrm>
          <a:off x="764674" y="1489687"/>
          <a:ext cx="10288338" cy="3210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46">
                  <a:extLst>
                    <a:ext uri="{9D8B030D-6E8A-4147-A177-3AD203B41FA5}">
                      <a16:colId xmlns:a16="http://schemas.microsoft.com/office/drawing/2014/main" val="912213218"/>
                    </a:ext>
                  </a:extLst>
                </a:gridCol>
                <a:gridCol w="3429446">
                  <a:extLst>
                    <a:ext uri="{9D8B030D-6E8A-4147-A177-3AD203B41FA5}">
                      <a16:colId xmlns:a16="http://schemas.microsoft.com/office/drawing/2014/main" val="1282924125"/>
                    </a:ext>
                  </a:extLst>
                </a:gridCol>
                <a:gridCol w="3429446">
                  <a:extLst>
                    <a:ext uri="{9D8B030D-6E8A-4147-A177-3AD203B41FA5}">
                      <a16:colId xmlns:a16="http://schemas.microsoft.com/office/drawing/2014/main" val="523454986"/>
                    </a:ext>
                  </a:extLst>
                </a:gridCol>
              </a:tblGrid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Sentinel-2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LISS-IV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95227"/>
                  </a:ext>
                </a:extLst>
              </a:tr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Programme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333333"/>
                          </a:solidFill>
                        </a:rPr>
                        <a:t>Copernicus / ESA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897B"/>
                          </a:solidFill>
                        </a:rPr>
                        <a:t>Resource sat / ISRO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100773"/>
                  </a:ext>
                </a:extLst>
              </a:tr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Multispectral bands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897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973575"/>
                  </a:ext>
                </a:extLst>
              </a:tr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Highest spatial resolution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10 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897B"/>
                          </a:solidFill>
                        </a:rPr>
                        <a:t>5.8 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76848"/>
                  </a:ext>
                </a:extLst>
              </a:tr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333333"/>
                          </a:solidFill>
                        </a:rPr>
                        <a:t>Representation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897B"/>
                          </a:solidFill>
                        </a:rPr>
                        <a:t>B4–B3–B2 FCC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84726"/>
                  </a:ext>
                </a:extLst>
              </a:tr>
              <a:tr h="53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333333"/>
                          </a:solidFill>
                        </a:rPr>
                        <a:t>Research maturity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Extensive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897B"/>
                          </a:solidFill>
                        </a:rPr>
                        <a:t>Comparatively less explored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032312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AFD613-B30C-C914-0456-7EC863463684}"/>
              </a:ext>
            </a:extLst>
          </p:cNvPr>
          <p:cNvSpPr/>
          <p:nvPr/>
        </p:nvSpPr>
        <p:spPr>
          <a:xfrm>
            <a:off x="106277" y="4892040"/>
            <a:ext cx="3758185" cy="171730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12304A"/>
                </a:solidFill>
              </a:rPr>
              <a:t>01 — Higher spatial resolution</a:t>
            </a:r>
          </a:p>
          <a:p>
            <a:endParaRPr lang="en-IN" dirty="0">
              <a:solidFill>
                <a:srgbClr val="12304A"/>
              </a:solidFill>
            </a:endParaRPr>
          </a:p>
          <a:p>
            <a:r>
              <a:rPr lang="en-IN" sz="1600" dirty="0">
                <a:solidFill>
                  <a:srgbClr val="333333"/>
                </a:solidFill>
              </a:rPr>
              <a:t>LISS-IV: </a:t>
            </a:r>
            <a:r>
              <a:rPr lang="en-IN" sz="1600" b="1" dirty="0">
                <a:solidFill>
                  <a:srgbClr val="00897B"/>
                </a:solidFill>
              </a:rPr>
              <a:t>5.8 m</a:t>
            </a:r>
            <a:br>
              <a:rPr lang="en-IN" sz="1600" dirty="0">
                <a:solidFill>
                  <a:srgbClr val="333333"/>
                </a:solidFill>
              </a:rPr>
            </a:br>
            <a:r>
              <a:rPr lang="en-IN" sz="1600" dirty="0">
                <a:solidFill>
                  <a:srgbClr val="333333"/>
                </a:solidFill>
              </a:rPr>
              <a:t>vs Sentinel-2: </a:t>
            </a:r>
            <a:r>
              <a:rPr lang="en-IN" sz="1600" b="1" dirty="0">
                <a:solidFill>
                  <a:srgbClr val="333333"/>
                </a:solidFill>
              </a:rPr>
              <a:t>10 m</a:t>
            </a:r>
            <a:endParaRPr lang="en-IN" sz="1600" dirty="0">
              <a:solidFill>
                <a:srgbClr val="333333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2E2B11-3DE1-49C1-7E5C-5E7A2D162F4C}"/>
              </a:ext>
            </a:extLst>
          </p:cNvPr>
          <p:cNvSpPr/>
          <p:nvPr/>
        </p:nvSpPr>
        <p:spPr>
          <a:xfrm>
            <a:off x="3994486" y="4892040"/>
            <a:ext cx="3928153" cy="171730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12304A"/>
                </a:solidFill>
              </a:rPr>
              <a:t>02 — Indian Earth-observation context</a:t>
            </a:r>
          </a:p>
          <a:p>
            <a:endParaRPr lang="en-IN" b="1" dirty="0">
              <a:solidFill>
                <a:srgbClr val="12304A"/>
              </a:solidFill>
            </a:endParaRPr>
          </a:p>
          <a:p>
            <a:r>
              <a:rPr lang="en-IN" sz="1600" dirty="0">
                <a:solidFill>
                  <a:srgbClr val="333333"/>
                </a:solidFill>
              </a:rPr>
              <a:t>LISS-IV belongs to India's</a:t>
            </a:r>
            <a:br>
              <a:rPr lang="en-IN" sz="1600" dirty="0">
                <a:solidFill>
                  <a:srgbClr val="333333"/>
                </a:solidFill>
              </a:rPr>
            </a:br>
            <a:r>
              <a:rPr lang="en-IN" sz="1600" b="1" dirty="0" err="1">
                <a:solidFill>
                  <a:srgbClr val="00897B"/>
                </a:solidFill>
              </a:rPr>
              <a:t>Resourcesat</a:t>
            </a:r>
            <a:r>
              <a:rPr lang="en-IN" sz="1600" b="1" dirty="0">
                <a:solidFill>
                  <a:srgbClr val="00897B"/>
                </a:solidFill>
              </a:rPr>
              <a:t> programme</a:t>
            </a:r>
            <a:r>
              <a:rPr lang="en-IN" sz="1600" b="1" dirty="0">
                <a:solidFill>
                  <a:srgbClr val="333333"/>
                </a:solidFill>
              </a:rPr>
              <a:t>.</a:t>
            </a:r>
            <a:endParaRPr lang="en-IN" sz="1600" dirty="0">
              <a:solidFill>
                <a:srgbClr val="333333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BC770-2B54-816C-DBE0-1C46D0B6679B}"/>
              </a:ext>
            </a:extLst>
          </p:cNvPr>
          <p:cNvSpPr/>
          <p:nvPr/>
        </p:nvSpPr>
        <p:spPr>
          <a:xfrm>
            <a:off x="8052663" y="4892040"/>
            <a:ext cx="3928153" cy="171730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12304A"/>
                </a:solidFill>
              </a:rPr>
              <a:t>03 — Research opportunity</a:t>
            </a:r>
          </a:p>
          <a:p>
            <a:endParaRPr lang="en-IN" dirty="0">
              <a:solidFill>
                <a:srgbClr val="12304A"/>
              </a:solidFill>
            </a:endParaRPr>
          </a:p>
          <a:p>
            <a:r>
              <a:rPr lang="en-IN" sz="1600" dirty="0">
                <a:solidFill>
                  <a:srgbClr val="333333"/>
                </a:solidFill>
              </a:rPr>
              <a:t>Investigate cloud removal specifically for</a:t>
            </a:r>
            <a:br>
              <a:rPr lang="en-IN" sz="1600" dirty="0">
                <a:solidFill>
                  <a:srgbClr val="333333"/>
                </a:solidFill>
              </a:rPr>
            </a:br>
            <a:r>
              <a:rPr lang="en-IN" sz="1600" b="1" dirty="0">
                <a:solidFill>
                  <a:srgbClr val="00897B"/>
                </a:solidFill>
              </a:rPr>
              <a:t>high-resolution LISS-IV imagery</a:t>
            </a:r>
            <a:r>
              <a:rPr lang="en-IN" sz="1600" b="1" dirty="0">
                <a:solidFill>
                  <a:srgbClr val="333333"/>
                </a:solidFill>
              </a:rPr>
              <a:t>.</a:t>
            </a:r>
            <a:endParaRPr lang="en-IN" sz="1600" dirty="0">
              <a:solidFill>
                <a:srgbClr val="333333"/>
              </a:solidFill>
            </a:endParaRPr>
          </a:p>
        </p:txBody>
      </p:sp>
      <p:pic>
        <p:nvPicPr>
          <p:cNvPr id="9" name="Picture 8" descr="IIITN Logo">
            <a:extLst>
              <a:ext uri="{FF2B5EF4-FFF2-40B4-BE49-F238E27FC236}">
                <a16:creationId xmlns:a16="http://schemas.microsoft.com/office/drawing/2014/main" id="{58808E05-C0EB-E046-2AB4-BE1C5BCC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0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1DC0-C00F-F34E-3947-ED2809C5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028917-9E15-3D99-7576-C4D6D782D4A0}"/>
              </a:ext>
            </a:extLst>
          </p:cNvPr>
          <p:cNvSpPr/>
          <p:nvPr/>
        </p:nvSpPr>
        <p:spPr>
          <a:xfrm>
            <a:off x="6180255" y="851082"/>
            <a:ext cx="5368545" cy="3830656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D6239-0D57-1C37-AFC6-92477D56CC4C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46B6AD-FF3D-A93C-0053-CEF0EA051363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43AD6-7935-9F31-B7EC-ABBDF83C3AD6}"/>
              </a:ext>
            </a:extLst>
          </p:cNvPr>
          <p:cNvSpPr txBox="1"/>
          <p:nvPr/>
        </p:nvSpPr>
        <p:spPr>
          <a:xfrm>
            <a:off x="177105" y="266307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0435"/>
                </a:solidFill>
              </a:rPr>
              <a:t>Dataset &amp; Data Preparation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31D20B-4783-0E1B-9A14-993AC306DCCC}"/>
              </a:ext>
            </a:extLst>
          </p:cNvPr>
          <p:cNvSpPr/>
          <p:nvPr/>
        </p:nvSpPr>
        <p:spPr>
          <a:xfrm>
            <a:off x="291519" y="905702"/>
            <a:ext cx="5368545" cy="3827546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Dataset</a:t>
            </a:r>
          </a:p>
          <a:p>
            <a:endParaRPr lang="en-IN" sz="2400" b="1" dirty="0">
              <a:solidFill>
                <a:srgbClr val="000435"/>
              </a:solidFill>
            </a:endParaRPr>
          </a:p>
          <a:p>
            <a:r>
              <a:rPr lang="en-IN" b="1" dirty="0">
                <a:solidFill>
                  <a:srgbClr val="000435"/>
                </a:solidFill>
              </a:rPr>
              <a:t>LISS-IV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12304A"/>
                </a:solidFill>
              </a:rPr>
              <a:t>Resourcesat-2/2A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12304A"/>
                </a:solidFill>
              </a:rPr>
              <a:t>B2 — Green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12304A"/>
                </a:solidFill>
              </a:rPr>
              <a:t>B3 — Red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12304A"/>
                </a:solidFill>
              </a:rPr>
              <a:t>B4 — NIR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12304A"/>
                </a:solidFill>
              </a:rPr>
              <a:t>FCC: </a:t>
            </a:r>
            <a:r>
              <a:rPr lang="en-IN" sz="1500" b="1" dirty="0">
                <a:solidFill>
                  <a:srgbClr val="12304A"/>
                </a:solidFill>
              </a:rPr>
              <a:t>[B4, B3, B2]</a:t>
            </a:r>
            <a:r>
              <a:rPr lang="en-IN" sz="1500" dirty="0">
                <a:solidFill>
                  <a:srgbClr val="12304A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897B"/>
                </a:solidFill>
              </a:rPr>
              <a:t>~</a:t>
            </a:r>
            <a:r>
              <a:rPr lang="en-IN" sz="1500" dirty="0">
                <a:solidFill>
                  <a:srgbClr val="00897B"/>
                </a:solidFill>
              </a:rPr>
              <a:t>5.8 m spatial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48201-9851-A3BA-25C2-8D3A32DC6DD8}"/>
              </a:ext>
            </a:extLst>
          </p:cNvPr>
          <p:cNvSpPr txBox="1"/>
          <p:nvPr/>
        </p:nvSpPr>
        <p:spPr>
          <a:xfrm>
            <a:off x="6569095" y="1020249"/>
            <a:ext cx="3270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2304A"/>
                </a:solidFill>
              </a:rPr>
              <a:t>Data Preparation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94E4A3-0CBF-B7E5-9448-B460396FF267}"/>
              </a:ext>
            </a:extLst>
          </p:cNvPr>
          <p:cNvSpPr/>
          <p:nvPr/>
        </p:nvSpPr>
        <p:spPr>
          <a:xfrm>
            <a:off x="177104" y="4850905"/>
            <a:ext cx="11883832" cy="1850957"/>
          </a:xfrm>
          <a:prstGeom prst="roundRect">
            <a:avLst/>
          </a:prstGeom>
          <a:solidFill>
            <a:srgbClr val="DFF2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235,001 Paired Patches</a:t>
            </a:r>
          </a:p>
          <a:p>
            <a:endParaRPr lang="en-IN" sz="2000" b="1" dirty="0">
              <a:solidFill>
                <a:srgbClr val="00897B"/>
              </a:solidFill>
            </a:endParaRPr>
          </a:p>
          <a:p>
            <a:endParaRPr lang="en-IN" sz="2000" b="1" dirty="0">
              <a:solidFill>
                <a:srgbClr val="00897B"/>
              </a:solidFill>
            </a:endParaRPr>
          </a:p>
          <a:p>
            <a:endParaRPr lang="en-IN" sz="2000" b="1" dirty="0">
              <a:solidFill>
                <a:srgbClr val="00897B"/>
              </a:solidFill>
            </a:endParaRPr>
          </a:p>
          <a:p>
            <a:pPr algn="ctr"/>
            <a:r>
              <a:rPr lang="en-IN" sz="2000">
                <a:solidFill>
                  <a:srgbClr val="12304A"/>
                </a:solidFill>
              </a:rPr>
              <a:t>Scene-level split → reduces spatial leakage</a:t>
            </a:r>
            <a:endParaRPr lang="en-IN" sz="2000" b="1" dirty="0">
              <a:solidFill>
                <a:srgbClr val="12304A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B3E033-C7B7-D409-9D4E-69717BB19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195"/>
              </p:ext>
            </p:extLst>
          </p:nvPr>
        </p:nvGraphicFramePr>
        <p:xfrm>
          <a:off x="402336" y="5373726"/>
          <a:ext cx="11420856" cy="633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952">
                  <a:extLst>
                    <a:ext uri="{9D8B030D-6E8A-4147-A177-3AD203B41FA5}">
                      <a16:colId xmlns:a16="http://schemas.microsoft.com/office/drawing/2014/main" val="2285839132"/>
                    </a:ext>
                  </a:extLst>
                </a:gridCol>
                <a:gridCol w="3806952">
                  <a:extLst>
                    <a:ext uri="{9D8B030D-6E8A-4147-A177-3AD203B41FA5}">
                      <a16:colId xmlns:a16="http://schemas.microsoft.com/office/drawing/2014/main" val="730412599"/>
                    </a:ext>
                  </a:extLst>
                </a:gridCol>
                <a:gridCol w="3806952">
                  <a:extLst>
                    <a:ext uri="{9D8B030D-6E8A-4147-A177-3AD203B41FA5}">
                      <a16:colId xmlns:a16="http://schemas.microsoft.com/office/drawing/2014/main" val="1381325117"/>
                    </a:ext>
                  </a:extLst>
                </a:gridCol>
              </a:tblGrid>
              <a:tr h="63319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435"/>
                          </a:solidFill>
                        </a:rPr>
                        <a:t>Train: 185,001  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435"/>
                          </a:solidFill>
                        </a:rPr>
                        <a:t>Validation: 25,000  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435"/>
                          </a:solidFill>
                        </a:rPr>
                        <a:t>Test: 25,000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595665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6DC562B2-6D23-DF77-5EF8-F911EFCB6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40" y="1566052"/>
            <a:ext cx="2023466" cy="29898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99003E-3454-755E-230C-4FC410089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40" y="3941064"/>
            <a:ext cx="918232" cy="6994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17B7B1-3761-9AC7-6489-49F7E4FB2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88" y="3941064"/>
            <a:ext cx="918232" cy="661704"/>
          </a:xfrm>
          <a:prstGeom prst="rect">
            <a:avLst/>
          </a:prstGeom>
        </p:spPr>
      </p:pic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B763BDAB-2CA3-00E5-6E7B-399C0D01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5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8038-8D22-6B39-FC78-AEB3962E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D7B192-AECE-1E70-1766-FB5879837925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D7621-7E6B-0C7E-25AC-3ED8F0A5089F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7693D-423C-7F10-ECF3-CD2D30055639}"/>
              </a:ext>
            </a:extLst>
          </p:cNvPr>
          <p:cNvSpPr txBox="1"/>
          <p:nvPr/>
        </p:nvSpPr>
        <p:spPr>
          <a:xfrm>
            <a:off x="177105" y="266307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0435"/>
                </a:solidFill>
              </a:rPr>
              <a:t>Overall 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16645E-CB27-C1D9-BD48-9A16328F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002619"/>
            <a:ext cx="9842373" cy="5379733"/>
          </a:xfrm>
          <a:prstGeom prst="rect">
            <a:avLst/>
          </a:prstGeom>
        </p:spPr>
      </p:pic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91EDFF3D-6AAA-7553-5565-071FAFF5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7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9E90-6CAE-3D48-AECE-48AD2F8B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98665C-AAE7-7441-7E22-87675CD49117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4614FC-5C36-D399-FF07-FE2C26727746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E2DB2-3ADE-555D-3623-39B0F8CE3F4E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Baseline Model – U-Net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90AB2C-809A-3AE7-A304-869E6B3BD29D}"/>
              </a:ext>
            </a:extLst>
          </p:cNvPr>
          <p:cNvSpPr/>
          <p:nvPr/>
        </p:nvSpPr>
        <p:spPr>
          <a:xfrm>
            <a:off x="7567864" y="854257"/>
            <a:ext cx="4206240" cy="4037783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100" dirty="0">
                <a:solidFill>
                  <a:srgbClr val="12304A"/>
                </a:solidFill>
              </a:rPr>
              <a:t>Model Configuration</a:t>
            </a:r>
          </a:p>
          <a:p>
            <a:endParaRPr lang="en-IN" sz="2100" dirty="0">
              <a:solidFill>
                <a:srgbClr val="12304A"/>
              </a:solidFill>
            </a:endParaRPr>
          </a:p>
          <a:p>
            <a:r>
              <a:rPr lang="en-IN" b="1" dirty="0">
                <a:solidFill>
                  <a:srgbClr val="00897B"/>
                </a:solidFill>
              </a:rPr>
              <a:t>Input</a:t>
            </a:r>
            <a:r>
              <a:rPr lang="en-IN" sz="1500" dirty="0">
                <a:solidFill>
                  <a:srgbClr val="00897B"/>
                </a:solidFill>
              </a:rPr>
              <a:t> : Cloudy FCC - 256 × 256 × 3</a:t>
            </a:r>
          </a:p>
          <a:p>
            <a:r>
              <a:rPr lang="en-IN" b="1" dirty="0">
                <a:solidFill>
                  <a:srgbClr val="00897B"/>
                </a:solidFill>
              </a:rPr>
              <a:t>Encoder</a:t>
            </a:r>
            <a:r>
              <a:rPr lang="en-IN" dirty="0">
                <a:solidFill>
                  <a:srgbClr val="00897B"/>
                </a:solidFill>
              </a:rPr>
              <a:t> : </a:t>
            </a:r>
            <a:r>
              <a:rPr lang="en-IN" sz="1500" dirty="0">
                <a:solidFill>
                  <a:srgbClr val="00897B"/>
                </a:solidFill>
              </a:rPr>
              <a:t>3 → 64 → 128 → 256 → 512</a:t>
            </a:r>
          </a:p>
          <a:p>
            <a:r>
              <a:rPr lang="en-IN" b="1" dirty="0">
                <a:solidFill>
                  <a:srgbClr val="00897B"/>
                </a:solidFill>
              </a:rPr>
              <a:t>Bottleneck </a:t>
            </a:r>
            <a:r>
              <a:rPr lang="en-IN" dirty="0">
                <a:solidFill>
                  <a:srgbClr val="00897B"/>
                </a:solidFill>
              </a:rPr>
              <a:t>: </a:t>
            </a:r>
            <a:r>
              <a:rPr lang="en-IN" sz="1500" dirty="0">
                <a:solidFill>
                  <a:srgbClr val="00897B"/>
                </a:solidFill>
              </a:rPr>
              <a:t>512 → 512</a:t>
            </a:r>
          </a:p>
          <a:p>
            <a:r>
              <a:rPr lang="en-IN" b="1" dirty="0">
                <a:solidFill>
                  <a:srgbClr val="00897B"/>
                </a:solidFill>
              </a:rPr>
              <a:t>Decoder </a:t>
            </a:r>
            <a:r>
              <a:rPr lang="en-IN" dirty="0">
                <a:solidFill>
                  <a:srgbClr val="00897B"/>
                </a:solidFill>
              </a:rPr>
              <a:t>: </a:t>
            </a:r>
            <a:r>
              <a:rPr lang="en-IN" sz="1500" dirty="0" err="1">
                <a:solidFill>
                  <a:srgbClr val="00897B"/>
                </a:solidFill>
              </a:rPr>
              <a:t>Upsampling</a:t>
            </a:r>
            <a:r>
              <a:rPr lang="en-IN" sz="1500" dirty="0">
                <a:solidFill>
                  <a:srgbClr val="00897B"/>
                </a:solidFill>
              </a:rPr>
              <a:t> + Skip Connections</a:t>
            </a:r>
          </a:p>
          <a:p>
            <a:r>
              <a:rPr lang="en-IN" b="1" dirty="0">
                <a:solidFill>
                  <a:srgbClr val="00897B"/>
                </a:solidFill>
              </a:rPr>
              <a:t>Output </a:t>
            </a:r>
            <a:r>
              <a:rPr lang="en-IN" dirty="0">
                <a:solidFill>
                  <a:srgbClr val="00897B"/>
                </a:solidFill>
              </a:rPr>
              <a:t>:</a:t>
            </a:r>
            <a:r>
              <a:rPr lang="en-IN" sz="1500" dirty="0">
                <a:solidFill>
                  <a:srgbClr val="00897B"/>
                </a:solidFill>
              </a:rPr>
              <a:t>Reconstructed Clear FCC</a:t>
            </a:r>
          </a:p>
          <a:p>
            <a:r>
              <a:rPr lang="en-IN" sz="1500" dirty="0">
                <a:solidFill>
                  <a:srgbClr val="00897B"/>
                </a:solidFill>
              </a:rPr>
              <a:t>256 × 256 × 3	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58BEF8-64F4-5DD5-AEBA-067F0A7A2F2E}"/>
              </a:ext>
            </a:extLst>
          </p:cNvPr>
          <p:cNvSpPr/>
          <p:nvPr/>
        </p:nvSpPr>
        <p:spPr>
          <a:xfrm>
            <a:off x="265176" y="5047488"/>
            <a:ext cx="11548872" cy="1541030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12304A"/>
                </a:solidFill>
              </a:rPr>
              <a:t>Training Configuration | L1 Loss | Adam | Learning Rate: 2 × 10⁻⁴ | 5 Epochs</a:t>
            </a: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E1B76B65-D6AA-C925-0B19-3B28FF8E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B0D720-E512-DD37-928D-0BB192F90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" y="914425"/>
            <a:ext cx="6893948" cy="344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9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1A68-12D6-056E-FB53-020D4E72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59BB0-7DDF-6FB2-810E-82640D898063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24B52-CFE9-D94A-7F2B-36BCC464FE7A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FF1FF-D431-DD53-E195-8F85EF70E43C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Evaluation Metrics &amp; Baseline 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D52193-C251-719F-64CA-A1730F885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014403"/>
              </p:ext>
            </p:extLst>
          </p:nvPr>
        </p:nvGraphicFramePr>
        <p:xfrm>
          <a:off x="270144" y="1271355"/>
          <a:ext cx="6031104" cy="3703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368">
                  <a:extLst>
                    <a:ext uri="{9D8B030D-6E8A-4147-A177-3AD203B41FA5}">
                      <a16:colId xmlns:a16="http://schemas.microsoft.com/office/drawing/2014/main" val="2625621008"/>
                    </a:ext>
                  </a:extLst>
                </a:gridCol>
                <a:gridCol w="2010368">
                  <a:extLst>
                    <a:ext uri="{9D8B030D-6E8A-4147-A177-3AD203B41FA5}">
                      <a16:colId xmlns:a16="http://schemas.microsoft.com/office/drawing/2014/main" val="3648576926"/>
                    </a:ext>
                  </a:extLst>
                </a:gridCol>
                <a:gridCol w="2010368">
                  <a:extLst>
                    <a:ext uri="{9D8B030D-6E8A-4147-A177-3AD203B41FA5}">
                      <a16:colId xmlns:a16="http://schemas.microsoft.com/office/drawing/2014/main" val="4115849472"/>
                    </a:ext>
                  </a:extLst>
                </a:gridCol>
              </a:tblGrid>
              <a:tr h="287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333333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Goal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438403"/>
                  </a:ext>
                </a:extLst>
              </a:tr>
              <a:tr h="50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MAE</a:t>
                      </a:r>
                      <a:endParaRPr lang="en-IN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Absolute pixel difference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51366"/>
                  </a:ext>
                </a:extLst>
              </a:tr>
              <a:tr h="718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RMSE</a:t>
                      </a:r>
                      <a:endParaRPr lang="en-IN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Squared reconstruction error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666492"/>
                  </a:ext>
                </a:extLst>
              </a:tr>
              <a:tr h="50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PSNR</a:t>
                      </a:r>
                      <a:endParaRPr lang="en-IN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Reconstruction quality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09947"/>
                  </a:ext>
                </a:extLst>
              </a:tr>
              <a:tr h="50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SSIM</a:t>
                      </a:r>
                      <a:endParaRPr lang="en-IN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Structural similarity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466390"/>
                  </a:ext>
                </a:extLst>
              </a:tr>
              <a:tr h="50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SAM</a:t>
                      </a:r>
                      <a:endParaRPr lang="en-IN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Spectral similarity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1471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DBDF24-0CE5-8CD2-9A95-596E53D29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651062"/>
              </p:ext>
            </p:extLst>
          </p:nvPr>
        </p:nvGraphicFramePr>
        <p:xfrm>
          <a:off x="6769929" y="1271354"/>
          <a:ext cx="3965128" cy="3516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4">
                  <a:extLst>
                    <a:ext uri="{9D8B030D-6E8A-4147-A177-3AD203B41FA5}">
                      <a16:colId xmlns:a16="http://schemas.microsoft.com/office/drawing/2014/main" val="795712956"/>
                    </a:ext>
                  </a:extLst>
                </a:gridCol>
                <a:gridCol w="1982564">
                  <a:extLst>
                    <a:ext uri="{9D8B030D-6E8A-4147-A177-3AD203B41FA5}">
                      <a16:colId xmlns:a16="http://schemas.microsoft.com/office/drawing/2014/main" val="2936613319"/>
                    </a:ext>
                  </a:extLst>
                </a:gridCol>
              </a:tblGrid>
              <a:tr h="558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rgbClr val="333333"/>
                          </a:solidFill>
                        </a:rPr>
                        <a:t>Result</a:t>
                      </a:r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096511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MAE ↓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0.043772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8405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RMSE ↓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0.067446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888220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PSNR ↑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23.4209 dB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18170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SSIM ↑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0.808675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60946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SAM ↓</a:t>
                      </a:r>
                      <a:endParaRPr lang="en-IN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9.9696°</a:t>
                      </a:r>
                      <a:endParaRPr lang="en-IN" dirty="0"/>
                    </a:p>
                  </a:txBody>
                  <a:tcPr anchor="ctr"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0059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9DED8B-629F-9309-880E-44555D66CB7D}"/>
              </a:ext>
            </a:extLst>
          </p:cNvPr>
          <p:cNvSpPr txBox="1"/>
          <p:nvPr/>
        </p:nvSpPr>
        <p:spPr>
          <a:xfrm>
            <a:off x="177104" y="855858"/>
            <a:ext cx="45559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12304A"/>
                </a:solidFill>
              </a:rPr>
              <a:t>Evaluation Metrics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2DC6D-AB48-5FE2-EC7F-621B55212AD4}"/>
              </a:ext>
            </a:extLst>
          </p:cNvPr>
          <p:cNvSpPr txBox="1"/>
          <p:nvPr/>
        </p:nvSpPr>
        <p:spPr>
          <a:xfrm>
            <a:off x="6769929" y="890371"/>
            <a:ext cx="40746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12304A"/>
                </a:solidFill>
              </a:rPr>
              <a:t>U-Net Baseline Results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6E615B-39E9-F85D-691E-23A3F0334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249" y="5384991"/>
            <a:ext cx="1314448" cy="13382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93B288-92EA-B4BA-7F42-1543EEDD7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248" y="5397576"/>
            <a:ext cx="1314000" cy="1325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C722E3-7292-BDF1-2900-1E283537B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493" y="5432989"/>
            <a:ext cx="1296000" cy="12902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712E6F-94CC-44AA-D0C8-C7DFB548316C}"/>
              </a:ext>
            </a:extLst>
          </p:cNvPr>
          <p:cNvSpPr txBox="1"/>
          <p:nvPr/>
        </p:nvSpPr>
        <p:spPr>
          <a:xfrm>
            <a:off x="2433709" y="5061826"/>
            <a:ext cx="1517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0435"/>
                </a:solidFill>
              </a:rPr>
              <a:t>Cloudy Input</a:t>
            </a:r>
            <a:endParaRPr lang="en-IN" sz="1500" b="1" dirty="0">
              <a:solidFill>
                <a:srgbClr val="000435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588842-5B40-E26D-AEB3-00956F75924A}"/>
              </a:ext>
            </a:extLst>
          </p:cNvPr>
          <p:cNvSpPr txBox="1"/>
          <p:nvPr/>
        </p:nvSpPr>
        <p:spPr>
          <a:xfrm>
            <a:off x="4905957" y="5109824"/>
            <a:ext cx="1517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0435"/>
                </a:solidFill>
              </a:rPr>
              <a:t>U-Net Output</a:t>
            </a:r>
            <a:endParaRPr lang="en-IN" sz="1500" b="1" dirty="0">
              <a:solidFill>
                <a:srgbClr val="00043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BD9638-C9EA-5E27-8710-0FB903747488}"/>
              </a:ext>
            </a:extLst>
          </p:cNvPr>
          <p:cNvSpPr txBox="1"/>
          <p:nvPr/>
        </p:nvSpPr>
        <p:spPr>
          <a:xfrm>
            <a:off x="7364289" y="5118802"/>
            <a:ext cx="1517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0435"/>
                </a:solidFill>
              </a:rPr>
              <a:t>Ground Truth</a:t>
            </a:r>
            <a:endParaRPr lang="en-IN" sz="1500" b="1" dirty="0">
              <a:solidFill>
                <a:srgbClr val="000435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94DAB5D-3735-F613-E19B-6709FA521251}"/>
              </a:ext>
            </a:extLst>
          </p:cNvPr>
          <p:cNvSpPr/>
          <p:nvPr/>
        </p:nvSpPr>
        <p:spPr>
          <a:xfrm>
            <a:off x="3951613" y="5861304"/>
            <a:ext cx="693539" cy="251165"/>
          </a:xfrm>
          <a:prstGeom prst="rightArrow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6F3EC0F-61EB-C2C4-27BC-909CC46342B1}"/>
              </a:ext>
            </a:extLst>
          </p:cNvPr>
          <p:cNvSpPr/>
          <p:nvPr/>
        </p:nvSpPr>
        <p:spPr>
          <a:xfrm>
            <a:off x="6532101" y="5914160"/>
            <a:ext cx="693539" cy="251165"/>
          </a:xfrm>
          <a:prstGeom prst="rightArrow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 descr="IIITN Logo">
            <a:extLst>
              <a:ext uri="{FF2B5EF4-FFF2-40B4-BE49-F238E27FC236}">
                <a16:creationId xmlns:a16="http://schemas.microsoft.com/office/drawing/2014/main" id="{8A03710B-302B-A0AD-AA37-0F91CC8B3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2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463E-42EA-B12C-6193-F08EDDA1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A66445-0979-E2BA-51A0-B198DCD915C0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227A12-3FDC-185A-5D03-3644C8474323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63CC2-DEB7-8B12-AB0C-57F0284F6EE6}"/>
              </a:ext>
            </a:extLst>
          </p:cNvPr>
          <p:cNvSpPr txBox="1"/>
          <p:nvPr/>
        </p:nvSpPr>
        <p:spPr>
          <a:xfrm>
            <a:off x="177104" y="269482"/>
            <a:ext cx="922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Baseline Analysis, Limitations &amp; Future Scope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AAA8CF-0888-5F3A-F840-E2A2A2711BE0}"/>
              </a:ext>
            </a:extLst>
          </p:cNvPr>
          <p:cNvSpPr/>
          <p:nvPr/>
        </p:nvSpPr>
        <p:spPr>
          <a:xfrm>
            <a:off x="177103" y="964375"/>
            <a:ext cx="5918896" cy="3616455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100" b="1" dirty="0">
              <a:solidFill>
                <a:srgbClr val="000435"/>
              </a:solidFill>
            </a:endParaRPr>
          </a:p>
          <a:p>
            <a:r>
              <a:rPr lang="en-IN" sz="2100" b="1" dirty="0">
                <a:solidFill>
                  <a:srgbClr val="000435"/>
                </a:solidFill>
              </a:rPr>
              <a:t>Baseline Analysis</a:t>
            </a:r>
            <a:endParaRPr lang="en-IN" sz="2100" dirty="0">
              <a:solidFill>
                <a:srgbClr val="000435"/>
              </a:solidFill>
            </a:endParaRPr>
          </a:p>
          <a:p>
            <a:r>
              <a:rPr lang="en-IN" b="1" dirty="0">
                <a:solidFill>
                  <a:srgbClr val="333333"/>
                </a:solidFill>
              </a:rPr>
              <a:t>What worked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U-Net learned cloudy-to-clear reconstruction.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33333"/>
                </a:solidFill>
              </a:rPr>
              <a:t>SSIM: 0.8087</a:t>
            </a:r>
            <a:r>
              <a:rPr lang="en-IN" dirty="0">
                <a:solidFill>
                  <a:srgbClr val="333333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Cloud appearance was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General scene structure was reconstructed. </a:t>
            </a:r>
          </a:p>
          <a:p>
            <a:r>
              <a:rPr lang="en-IN" b="1" dirty="0">
                <a:solidFill>
                  <a:srgbClr val="333333"/>
                </a:solidFill>
              </a:rPr>
              <a:t>Limitations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Output is noticeably smoother than the ground truth.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Fine spatial details are lost.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Spectral variation is not fully recovered.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</a:rPr>
              <a:t>Radiometric distribution is not reproduced perfectly.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623689-70BC-24F3-D04F-FC756A6AF43F}"/>
              </a:ext>
            </a:extLst>
          </p:cNvPr>
          <p:cNvSpPr/>
          <p:nvPr/>
        </p:nvSpPr>
        <p:spPr>
          <a:xfrm>
            <a:off x="6550153" y="1152855"/>
            <a:ext cx="5464743" cy="3317857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Future Scope</a:t>
            </a:r>
          </a:p>
          <a:p>
            <a:endParaRPr lang="en-IN" sz="2400" b="1" dirty="0">
              <a:solidFill>
                <a:srgbClr val="000435"/>
              </a:solidFill>
            </a:endParaRPr>
          </a:p>
          <a:p>
            <a:pPr algn="ctr"/>
            <a:r>
              <a:rPr lang="en-IN" sz="1500" b="1" dirty="0">
                <a:solidFill>
                  <a:srgbClr val="333333"/>
                </a:solidFill>
              </a:rPr>
              <a:t>Stage 1 — U-Net + L1</a:t>
            </a:r>
            <a:br>
              <a:rPr lang="en-IN" sz="1500" dirty="0">
                <a:solidFill>
                  <a:srgbClr val="333333"/>
                </a:solidFill>
              </a:rPr>
            </a:br>
            <a:r>
              <a:rPr lang="en-IN" sz="1500" dirty="0">
                <a:solidFill>
                  <a:srgbClr val="333333"/>
                </a:solidFill>
              </a:rPr>
              <a:t>✓ Completed</a:t>
            </a:r>
          </a:p>
          <a:p>
            <a:pPr algn="ctr"/>
            <a:r>
              <a:rPr lang="en-IN" sz="1500" dirty="0">
                <a:solidFill>
                  <a:srgbClr val="333333"/>
                </a:solidFill>
              </a:rPr>
              <a:t>↓</a:t>
            </a:r>
          </a:p>
          <a:p>
            <a:pPr algn="ctr"/>
            <a:r>
              <a:rPr lang="en-IN" sz="1500" b="1" dirty="0">
                <a:solidFill>
                  <a:srgbClr val="333333"/>
                </a:solidFill>
              </a:rPr>
              <a:t>Stage 2 — Stronger Image-to-Image Model</a:t>
            </a:r>
            <a:endParaRPr lang="en-IN" sz="1500" dirty="0">
              <a:solidFill>
                <a:srgbClr val="333333"/>
              </a:solidFill>
            </a:endParaRPr>
          </a:p>
          <a:p>
            <a:pPr algn="ctr"/>
            <a:r>
              <a:rPr lang="en-IN" sz="1500" dirty="0">
                <a:solidFill>
                  <a:srgbClr val="333333"/>
                </a:solidFill>
              </a:rPr>
              <a:t>↓</a:t>
            </a:r>
          </a:p>
          <a:p>
            <a:pPr algn="ctr"/>
            <a:r>
              <a:rPr lang="en-IN" sz="1500" b="1" dirty="0">
                <a:solidFill>
                  <a:srgbClr val="333333"/>
                </a:solidFill>
              </a:rPr>
              <a:t>Stage 3 — U-Net + </a:t>
            </a:r>
            <a:r>
              <a:rPr lang="en-IN" sz="1500" b="1" dirty="0" err="1">
                <a:solidFill>
                  <a:srgbClr val="333333"/>
                </a:solidFill>
              </a:rPr>
              <a:t>PatchGAN</a:t>
            </a:r>
            <a:endParaRPr lang="en-IN" sz="1500" dirty="0">
              <a:solidFill>
                <a:srgbClr val="333333"/>
              </a:solidFill>
            </a:endParaRPr>
          </a:p>
          <a:p>
            <a:pPr algn="ctr"/>
            <a:r>
              <a:rPr lang="en-IN" sz="1500" dirty="0">
                <a:solidFill>
                  <a:srgbClr val="333333"/>
                </a:solidFill>
              </a:rPr>
              <a:t>↓</a:t>
            </a:r>
          </a:p>
          <a:p>
            <a:pPr algn="ctr"/>
            <a:r>
              <a:rPr lang="en-IN" sz="1500" b="1" dirty="0">
                <a:solidFill>
                  <a:srgbClr val="333333"/>
                </a:solidFill>
              </a:rPr>
              <a:t>Final Comparison</a:t>
            </a:r>
            <a:br>
              <a:rPr lang="en-IN" sz="1500" dirty="0">
                <a:solidFill>
                  <a:srgbClr val="333333"/>
                </a:solidFill>
              </a:rPr>
            </a:br>
            <a:r>
              <a:rPr lang="en-IN" sz="1500" dirty="0">
                <a:solidFill>
                  <a:srgbClr val="333333"/>
                </a:solidFill>
              </a:rPr>
              <a:t>MAE | RMSE | PSNR | SSIM | SAM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3E2D3E-3882-0C13-AF18-DAB8F5A92F49}"/>
              </a:ext>
            </a:extLst>
          </p:cNvPr>
          <p:cNvSpPr/>
          <p:nvPr/>
        </p:nvSpPr>
        <p:spPr>
          <a:xfrm>
            <a:off x="271431" y="4820622"/>
            <a:ext cx="11649137" cy="1817921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Goal Box</a:t>
            </a:r>
          </a:p>
          <a:p>
            <a:endParaRPr lang="en-IN" sz="2000" b="1" dirty="0">
              <a:solidFill>
                <a:srgbClr val="00897B"/>
              </a:solidFill>
            </a:endParaRPr>
          </a:p>
          <a:p>
            <a:r>
              <a:rPr lang="en-IN" sz="2000" dirty="0">
                <a:solidFill>
                  <a:srgbClr val="333333"/>
                </a:solidFill>
              </a:rPr>
              <a:t>Improve spatial detail and spectral fidelity while maintaining or improving quantitative reconstruction performance.</a:t>
            </a:r>
            <a:endParaRPr lang="en-IN" sz="2000" b="1" dirty="0">
              <a:solidFill>
                <a:srgbClr val="333333"/>
              </a:solidFill>
            </a:endParaRPr>
          </a:p>
        </p:txBody>
      </p:sp>
      <p:pic>
        <p:nvPicPr>
          <p:cNvPr id="16" name="Picture 15" descr="IIITN Logo">
            <a:extLst>
              <a:ext uri="{FF2B5EF4-FFF2-40B4-BE49-F238E27FC236}">
                <a16:creationId xmlns:a16="http://schemas.microsoft.com/office/drawing/2014/main" id="{B1982501-76FB-F05D-4E05-D2C65573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9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2A75-0AED-42FF-76C1-FFD39B97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803FB7-99A7-564B-A64C-0F4BE56A532A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C07CDD-6A14-01E4-717C-D13516DF8ECE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CBBF7F-A8E3-E945-0B45-64A659B6D7A3}"/>
              </a:ext>
            </a:extLst>
          </p:cNvPr>
          <p:cNvSpPr txBox="1"/>
          <p:nvPr/>
        </p:nvSpPr>
        <p:spPr>
          <a:xfrm>
            <a:off x="177104" y="269482"/>
            <a:ext cx="922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ABD25-CB2E-20D7-3CFD-CF2A34E63929}"/>
              </a:ext>
            </a:extLst>
          </p:cNvPr>
          <p:cNvSpPr txBox="1"/>
          <p:nvPr/>
        </p:nvSpPr>
        <p:spPr>
          <a:xfrm>
            <a:off x="385011" y="1106905"/>
            <a:ext cx="113898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[1]</a:t>
            </a:r>
            <a:r>
              <a:rPr lang="en-IN" dirty="0"/>
              <a:t> </a:t>
            </a:r>
            <a:r>
              <a:rPr lang="en-IN" i="1" dirty="0"/>
              <a:t>Cloud Removal Advances: A Comprehensive Review and Analysis for Optical Remote Sensing Images.</a:t>
            </a:r>
          </a:p>
          <a:p>
            <a:endParaRPr lang="en-IN" dirty="0"/>
          </a:p>
          <a:p>
            <a:r>
              <a:rPr lang="en-IN" b="1" dirty="0"/>
              <a:t>[2]</a:t>
            </a:r>
            <a:r>
              <a:rPr lang="en-IN" dirty="0"/>
              <a:t> </a:t>
            </a:r>
            <a:r>
              <a:rPr lang="en-IN" dirty="0" err="1"/>
              <a:t>Meraner</a:t>
            </a:r>
            <a:r>
              <a:rPr lang="en-IN" dirty="0"/>
              <a:t>, A., Ebel, P., Schmitt, M., &amp; Zhu, X. X. (2020). </a:t>
            </a:r>
            <a:r>
              <a:rPr lang="en-IN" i="1" dirty="0"/>
              <a:t>Cloud removal in Sentinel-2 imagery using a deep residual neural network and SAR-optical data fusion.</a:t>
            </a:r>
            <a:r>
              <a:rPr lang="en-IN" dirty="0"/>
              <a:t> ISPRS Journal of Photogrammetry and Remote Sensing.</a:t>
            </a:r>
          </a:p>
          <a:p>
            <a:endParaRPr lang="en-IN" dirty="0"/>
          </a:p>
          <a:p>
            <a:r>
              <a:rPr lang="en-IN" b="1" dirty="0"/>
              <a:t>[3]</a:t>
            </a:r>
            <a:r>
              <a:rPr lang="en-IN" dirty="0"/>
              <a:t> Li, Y., et al. (2020). </a:t>
            </a:r>
            <a:r>
              <a:rPr lang="en-IN" i="1" dirty="0"/>
              <a:t>Thin cloud removal in optical remote sensing images based on generative adversarial networks and physical model of cloud distortion.</a:t>
            </a:r>
          </a:p>
          <a:p>
            <a:endParaRPr lang="en-IN" dirty="0"/>
          </a:p>
          <a:p>
            <a:r>
              <a:rPr lang="en-IN" b="1" dirty="0"/>
              <a:t>[4]</a:t>
            </a:r>
            <a:r>
              <a:rPr lang="en-IN" dirty="0"/>
              <a:t> Zhou, X., et al. (2024). </a:t>
            </a:r>
            <a:r>
              <a:rPr lang="en-IN" i="1" dirty="0" err="1"/>
              <a:t>AllClear</a:t>
            </a:r>
            <a:r>
              <a:rPr lang="en-IN" i="1" dirty="0"/>
              <a:t>: A Comprehensive Dataset and Benchmark for Cloud Removal in Satellite Imagery.</a:t>
            </a:r>
            <a:r>
              <a:rPr lang="en-IN" dirty="0"/>
              <a:t> </a:t>
            </a:r>
            <a:r>
              <a:rPr lang="en-IN" dirty="0" err="1"/>
              <a:t>NeurIPS</a:t>
            </a:r>
            <a:r>
              <a:rPr lang="en-IN" dirty="0"/>
              <a:t> 2024.</a:t>
            </a:r>
          </a:p>
          <a:p>
            <a:endParaRPr lang="en-IN" dirty="0"/>
          </a:p>
          <a:p>
            <a:r>
              <a:rPr lang="en-IN" b="1" dirty="0"/>
              <a:t>[5]</a:t>
            </a:r>
            <a:r>
              <a:rPr lang="en-IN" dirty="0"/>
              <a:t> ESA. </a:t>
            </a:r>
            <a:r>
              <a:rPr lang="en-IN" i="1" dirty="0"/>
              <a:t>Copernicus Sentinel-2 Mission and Multispectral Instrument documentation.</a:t>
            </a:r>
          </a:p>
          <a:p>
            <a:endParaRPr lang="en-IN" dirty="0"/>
          </a:p>
          <a:p>
            <a:r>
              <a:rPr lang="en-IN" b="1" dirty="0"/>
              <a:t>[6]</a:t>
            </a:r>
            <a:r>
              <a:rPr lang="en-IN" dirty="0"/>
              <a:t> </a:t>
            </a:r>
            <a:r>
              <a:rPr lang="en-IN" dirty="0" err="1"/>
              <a:t>Ronneberger</a:t>
            </a:r>
            <a:r>
              <a:rPr lang="en-IN" dirty="0"/>
              <a:t>, O., Fischer, P., &amp; Brox, T. (2015). </a:t>
            </a:r>
            <a:r>
              <a:rPr lang="en-IN" i="1" dirty="0"/>
              <a:t>U-Net: Convolutional Networks for Biomedical Image Segmentation.</a:t>
            </a:r>
            <a:r>
              <a:rPr lang="en-IN" dirty="0"/>
              <a:t> MICCAI.</a:t>
            </a:r>
          </a:p>
        </p:txBody>
      </p:sp>
      <p:pic>
        <p:nvPicPr>
          <p:cNvPr id="8" name="Picture 7" descr="IIITN Logo">
            <a:extLst>
              <a:ext uri="{FF2B5EF4-FFF2-40B4-BE49-F238E27FC236}">
                <a16:creationId xmlns:a16="http://schemas.microsoft.com/office/drawing/2014/main" id="{459DC649-0998-F4FD-CE73-055ADC34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9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759</Words>
  <Application>Microsoft Office PowerPoint</Application>
  <PresentationFormat>Widescreen</PresentationFormat>
  <Paragraphs>178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Baindla Mouryagna</dc:creator>
  <cp:lastModifiedBy>Baindla Mouryagna</cp:lastModifiedBy>
  <cp:revision>5</cp:revision>
  <dcterms:created xsi:type="dcterms:W3CDTF">2026-09-15T17:26:52Z</dcterms:created>
  <dcterms:modified xsi:type="dcterms:W3CDTF">2026-09-17T05:58:49Z</dcterms:modified>
</cp:coreProperties>
</file>